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5" r:id="rId3"/>
    <p:sldId id="257" r:id="rId4"/>
    <p:sldId id="259" r:id="rId5"/>
    <p:sldId id="258" r:id="rId6"/>
    <p:sldId id="261" r:id="rId7"/>
    <p:sldId id="262" r:id="rId8"/>
    <p:sldId id="265" r:id="rId9"/>
    <p:sldId id="266" r:id="rId10"/>
    <p:sldId id="263" r:id="rId11"/>
    <p:sldId id="268" r:id="rId12"/>
    <p:sldId id="270" r:id="rId13"/>
    <p:sldId id="271" r:id="rId14"/>
    <p:sldId id="272" r:id="rId15"/>
    <p:sldId id="264" r:id="rId16"/>
    <p:sldId id="274" r:id="rId17"/>
    <p:sldId id="276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Extraction phase" id="{DC91C5D0-D77E-4DAA-B7EF-DB6C72501DCD}">
          <p14:sldIdLst>
            <p14:sldId id="256"/>
            <p14:sldId id="275"/>
            <p14:sldId id="257"/>
            <p14:sldId id="259"/>
            <p14:sldId id="258"/>
            <p14:sldId id="261"/>
            <p14:sldId id="262"/>
            <p14:sldId id="265"/>
            <p14:sldId id="266"/>
            <p14:sldId id="263"/>
            <p14:sldId id="268"/>
            <p14:sldId id="270"/>
            <p14:sldId id="271"/>
            <p14:sldId id="272"/>
            <p14:sldId id="264"/>
            <p14:sldId id="274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76E2F-095C-469C-A88D-890CB73CF6CC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9758E-D9D6-477B-AC0B-F062C8C0DC9F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534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9758E-D9D6-477B-AC0B-F062C8C0DC9F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9905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3B70-39F6-6AEF-B9DA-4DC2D95FB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F6820-9934-00AF-77CA-C44174F93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07B57-C423-DA1F-5EE6-C00A10B8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8B495-2BC2-9410-3577-63A6CF81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D7E78-3C6B-67E9-3673-92038D30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7990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09571-2F7E-2554-A251-5F4C5D4F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78213-7FB0-7DCA-6310-7B0F585BA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5C22A-DD4F-3D0E-9FD3-8F517671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EA6FF-C30D-AA6E-E460-9855189D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B94ED-659D-64E8-4125-AEBA9FFB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9009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3216-7F1A-4156-7B56-54EE279C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6177E-F6D1-7AD7-105B-5E7DAAF33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FEFC9-1315-34F8-9105-8EE40AD4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8A6C6-0854-FB69-8EEE-CB1EAAFB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7F09B-7FDD-A0F7-039F-F1DDCBE9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0276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105A2-E414-9699-0993-6D53D043A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D20C2-7FA0-F424-228E-B07DDF9A6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4DBFB-C194-9DD0-9E0D-60180A608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1645F-4D3A-A256-C227-34C2A5B7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F805-96FA-A86B-B140-99B54946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6F15B-7600-D4B6-C863-1B69DD97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3179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4973-ED89-665F-4AA8-7A03A96D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89326-F3F5-73B6-ED7B-EE26D25C5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D0841-580E-8653-972C-D6DC88E7D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F72FA-275A-9FF6-92B9-D8E771BC6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C12A4-2FC7-E4D9-86F0-B291A25B0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54F631-4BF3-8AE8-198A-93DE9E2A7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FF15ED-D264-B269-9919-81154887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B85BC7-EB5C-E3AC-BEC3-D344FCD4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04306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9396-1E81-C06D-978B-C862D602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049BD-7D9B-632C-9FB6-8AC9108A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2600C-6580-0141-3F97-B5086EE5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FD634-B919-0943-9E74-1D8FEBBD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1562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0B209-B4A9-5254-D97C-2C4D0C65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4F543-8EAA-C77A-9DAB-50513FFB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9C6B1-5F86-0936-49F1-2788319A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7545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4764-4A25-AC23-E454-C93D5B3C7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05267-F557-5365-0765-3F8EFFF12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3B981-B972-9D69-F577-6ECD61B87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1EB0B-88F7-E184-D0B1-3EB76241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1DED2-C87D-CA17-97BC-1C77C310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2886F-8FC6-59BA-0DF6-902EB483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82045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18BA9-B53D-600A-5E84-B230E3530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800B0-5FB5-7F88-F9B7-69BDE6B05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94D43-DA14-D382-5213-A190E3EA6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264BA-F29F-0651-C0CC-7FAE8D7F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21BF8-1F30-6434-19F1-BFADCAEE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2F7A5-0A9B-9037-EC88-E75353FB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1347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676A-FC3F-A02F-5D97-D86FA9F61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929AF-4D37-6C9F-D5D3-BDD42F357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9F1FD-5CA3-638C-D5A6-39C949783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154A7-3268-2455-4B2A-4BA6ED8B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1A6B1-4E6C-E897-E7C6-23BD5734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6150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BF251C-6F62-9033-33DE-7C0395754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2999D-C27B-8D32-6E81-40F9B9887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D4CBE-051D-358F-F012-7D4668A9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64D88-88B2-23E3-F1E2-F625C72F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F681E-CF87-A9F2-F119-6550C872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2215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3AADC-B789-8EAB-F26E-9B21E7BB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CAE4E-1BA9-F17D-A1F8-24B9075E6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27727-B50D-8DAE-CDEA-0BA259EA5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ACAFA-AC29-4EF2-B409-1379A7F11B79}" type="datetimeFigureOut">
              <a:rPr lang="fr-BE" smtClean="0"/>
              <a:t>04-05-26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C4E4D-B87A-E540-3EAD-BFD4ED6D5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E9191-774D-75F0-09C0-43A41414B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8792E5-A34B-40FD-8E4A-066925D89CB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7552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C2DBE71-FF30-167E-9F41-E744E7AAD73E}"/>
              </a:ext>
            </a:extLst>
          </p:cNvPr>
          <p:cNvSpPr txBox="1"/>
          <p:nvPr/>
        </p:nvSpPr>
        <p:spPr>
          <a:xfrm>
            <a:off x="164592" y="128016"/>
            <a:ext cx="1043356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u="sng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 1: Data Fetch</a:t>
            </a: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In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this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phase,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extract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all the data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need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mongo to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build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our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Graph. </a:t>
            </a:r>
          </a:p>
          <a:p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Basically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extract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2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element's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fr-BE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A file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containing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list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fr-BE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nodes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some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node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Some files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containing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list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fr-BE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edges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some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edge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Note: not all the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can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computed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in the extraction phase, </a:t>
            </a:r>
            <a:b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because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some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them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require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the graph structure (phase 2). For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Page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rank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degree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centrality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, total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number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of time user A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reposted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user B (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edge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feature)</a:t>
            </a:r>
          </a:p>
        </p:txBody>
      </p:sp>
    </p:spTree>
    <p:extLst>
      <p:ext uri="{BB962C8B-B14F-4D97-AF65-F5344CB8AC3E}">
        <p14:creationId xmlns:p14="http://schemas.microsoft.com/office/powerpoint/2010/main" val="513217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53"/>
    </mc:Choice>
    <mc:Fallback>
      <p:transition spd="slow" advTm="135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7A34-5837-4277-6365-30E74323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EE23CE-7C97-52BE-D8FF-5FAB3459C138}"/>
              </a:ext>
            </a:extLst>
          </p:cNvPr>
          <p:cNvSpPr txBox="1"/>
          <p:nvPr/>
        </p:nvSpPr>
        <p:spPr>
          <a:xfrm>
            <a:off x="164592" y="128016"/>
            <a:ext cx="11656620" cy="598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 1: Data Fetch</a:t>
            </a:r>
          </a:p>
          <a:p>
            <a:endParaRPr lang="fr-BE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sz="2400" b="1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Problem</a:t>
            </a:r>
            <a:r>
              <a:rPr lang="fr-BE" sz="24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fr-BE" sz="1050" b="1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With a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database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containing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approxiamively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500 million of tweets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cannot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load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all the tweets </a:t>
            </a:r>
            <a:r>
              <a:rPr lang="fr-BE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at once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endParaRPr lang="fr-BE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For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storing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all the tweets in a simple python </a:t>
            </a:r>
            <a:r>
              <a:rPr lang="fr-BE" sz="2200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BE" sz="2200" b="1" dirty="0" err="1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list</a:t>
            </a:r>
            <a:r>
              <a:rPr lang="fr-BE" sz="2200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()`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requires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2200" dirty="0">
                <a:latin typeface="Segoe UI" panose="020B0502040204020203" pitchFamily="34" charset="0"/>
                <a:cs typeface="Segoe UI" panose="020B0502040204020203" pitchFamily="34" charset="0"/>
              </a:rPr>
              <a:t>681GB of RAM!</a:t>
            </a:r>
            <a:endParaRPr lang="fr-BE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need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an </a:t>
            </a:r>
            <a:r>
              <a:rPr lang="fr-BE" sz="2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optimized</a:t>
            </a:r>
            <a:r>
              <a:rPr lang="fr-BE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way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to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retrieve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our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data.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could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explore </a:t>
            </a:r>
            <a:r>
              <a:rPr lang="fr-BE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some</a:t>
            </a:r>
            <a:r>
              <a:rPr lang="fr-BE" sz="2200" dirty="0">
                <a:latin typeface="Segoe UI" panose="020B0502040204020203" pitchFamily="34" charset="0"/>
                <a:cs typeface="Segoe UI" panose="020B0502040204020203" pitchFamily="34" charset="0"/>
              </a:rPr>
              <a:t> solutions:</a:t>
            </a:r>
          </a:p>
          <a:p>
            <a:endParaRPr lang="fr-BE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Use a </a:t>
            </a:r>
            <a:r>
              <a:rPr lang="fr-BE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mongo </a:t>
            </a:r>
            <a:r>
              <a:rPr lang="fr-BE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cursor</a:t>
            </a:r>
            <a:r>
              <a:rPr lang="fr-BE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to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iterate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over </a:t>
            </a:r>
            <a:r>
              <a:rPr lang="fr-BE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fr-BE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stream</a:t>
            </a:r>
            <a:r>
              <a:rPr lang="fr-BE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of tweets 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to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our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RAM usage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BE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Avoiding</a:t>
            </a:r>
            <a:r>
              <a:rPr lang="fr-BE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recursive</a:t>
            </a:r>
            <a:r>
              <a:rPr lang="fr-BE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queries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instead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iterate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over all tweets at once, </a:t>
            </a:r>
            <a:r>
              <a:rPr lang="fr-BE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sorted</a:t>
            </a:r>
            <a:r>
              <a:rPr lang="fr-BE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by </a:t>
            </a:r>
            <a:r>
              <a:rPr lang="fr-BE" sz="2000" b="1" dirty="0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`user.id`</a:t>
            </a:r>
            <a:endParaRPr lang="en-US" sz="20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Execute data extraction in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user-based batches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to optimize throughput and resource allocation.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Save intermediate results by creating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checkpoint files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and reuse them at merging phase.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Compute some features directly during the iteration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by aggregating all user's tweets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fr-BE" sz="2000" dirty="0">
              <a:solidFill>
                <a:schemeClr val="accent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505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F8787-FAE7-E7C0-DC8F-B2AE2FE77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940595B-FA99-C060-3859-141D9890B5CA}"/>
              </a:ext>
            </a:extLst>
          </p:cNvPr>
          <p:cNvSpPr txBox="1"/>
          <p:nvPr/>
        </p:nvSpPr>
        <p:spPr>
          <a:xfrm>
            <a:off x="164593" y="128016"/>
            <a:ext cx="71963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Properties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File</a:t>
            </a:r>
          </a:p>
          <a:p>
            <a:pPr algn="just"/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AutoNum type="alphaUcPeriod"/>
            </a:pPr>
            <a:r>
              <a:rPr lang="fr-FR" sz="2400" dirty="0">
                <a:latin typeface="Segoe UI" panose="020B0502040204020203" pitchFamily="34" charset="0"/>
                <a:cs typeface="Segoe UI" panose="020B0502040204020203" pitchFamily="34" charset="0"/>
              </a:rPr>
              <a:t>In </a:t>
            </a:r>
            <a:r>
              <a:rPr lang="fr-F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order</a:t>
            </a:r>
            <a:r>
              <a:rPr lang="fr-FR" sz="2400" dirty="0">
                <a:latin typeface="Segoe UI" panose="020B0502040204020203" pitchFamily="34" charset="0"/>
                <a:cs typeface="Segoe UI" panose="020B0502040204020203" pitchFamily="34" charset="0"/>
              </a:rPr>
              <a:t> for the user-user graph to </a:t>
            </a:r>
            <a:r>
              <a:rPr lang="fr-F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fr-F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created</a:t>
            </a:r>
            <a:r>
              <a:rPr lang="fr-FR" sz="2400" dirty="0">
                <a:latin typeface="Segoe UI" panose="020B0502040204020203" pitchFamily="34" charset="0"/>
                <a:cs typeface="Segoe UI" panose="020B0502040204020203" pitchFamily="34" charset="0"/>
              </a:rPr>
              <a:t>, the </a:t>
            </a:r>
            <a:r>
              <a:rPr lang="fr-F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task</a:t>
            </a:r>
            <a:r>
              <a:rPr lang="fr-F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2400" dirty="0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FR" sz="2400" dirty="0" err="1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user_user</a:t>
            </a:r>
            <a:r>
              <a:rPr lang="fr-FR" sz="2400" dirty="0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FR" sz="2400" dirty="0">
                <a:latin typeface="Segoe UI" panose="020B0502040204020203" pitchFamily="34" charset="0"/>
                <a:cs typeface="Segoe UI" panose="020B0502040204020203" pitchFamily="34" charset="0"/>
              </a:rPr>
              <a:t> must </a:t>
            </a:r>
            <a:r>
              <a:rPr lang="fr-F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fr-FR" sz="2400" dirty="0">
                <a:latin typeface="Segoe UI" panose="020B0502040204020203" pitchFamily="34" charset="0"/>
                <a:cs typeface="Segoe UI" panose="020B0502040204020203" pitchFamily="34" charset="0"/>
              </a:rPr>
              <a:t> set to </a:t>
            </a:r>
            <a:r>
              <a:rPr lang="fr-FR" sz="2400" dirty="0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FR" sz="2400" dirty="0" err="1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true</a:t>
            </a:r>
            <a:r>
              <a:rPr lang="fr-FR" sz="2400" dirty="0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BE" sz="240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in the </a:t>
            </a:r>
            <a:r>
              <a:rPr lang="fr-BE" sz="2400" dirty="0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BE" sz="2400" dirty="0" err="1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properties</a:t>
            </a:r>
            <a:r>
              <a:rPr lang="fr-BE" sz="2400" dirty="0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/</a:t>
            </a:r>
            <a:r>
              <a:rPr lang="fr-BE" sz="2400" dirty="0" err="1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prop.json</a:t>
            </a:r>
            <a:r>
              <a:rPr lang="fr-BE" sz="2400" dirty="0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 file.</a:t>
            </a:r>
          </a:p>
          <a:p>
            <a:pPr marL="342900" indent="-342900" algn="just">
              <a:buAutoNum type="alphaUcPeriod"/>
            </a:pP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AutoNum type="alphaUcPeriod"/>
            </a:pP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AutoNum type="alphaUcPeriod"/>
            </a:pP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AutoNum type="alphaUcPeriod"/>
            </a:pP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AutoNum type="alphaUcPeriod"/>
            </a:pP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AutoNum type="alphaUcPeriod"/>
            </a:pP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Font typeface="+mj-lt"/>
              <a:buAutoNum type="alphaUcPeriod" startAt="2"/>
            </a:pP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fr-BE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database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credentials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 must </a:t>
            </a:r>
            <a:r>
              <a:rPr lang="fr-BE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 correct, </a:t>
            </a:r>
            <a:r>
              <a:rPr lang="fr-BE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such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 as </a:t>
            </a:r>
            <a:r>
              <a:rPr lang="fr-BE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database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, collection, </a:t>
            </a:r>
            <a:r>
              <a:rPr lang="fr-BE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ip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BE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password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,… (</a:t>
            </a:r>
            <a:r>
              <a:rPr lang="fr-BE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except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 if </a:t>
            </a:r>
            <a:r>
              <a:rPr lang="fr-BE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it's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 the local mongo </a:t>
            </a:r>
            <a:r>
              <a:rPr lang="fr-BE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database</a:t>
            </a:r>
            <a:r>
              <a:rPr lang="fr-BE" sz="2400" dirty="0">
                <a:latin typeface="Segoe UI" panose="020B0502040204020203" pitchFamily="34" charset="0"/>
                <a:cs typeface="Segoe UI" panose="020B0502040204020203" pitchFamily="34" charset="0"/>
              </a:rPr>
              <a:t> at 127.0.0.1, the default values are correct)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431A62-172C-47AA-C7C8-EC95E94CC709}"/>
              </a:ext>
            </a:extLst>
          </p:cNvPr>
          <p:cNvGrpSpPr/>
          <p:nvPr/>
        </p:nvGrpSpPr>
        <p:grpSpPr>
          <a:xfrm>
            <a:off x="7577970" y="974502"/>
            <a:ext cx="2581635" cy="1952898"/>
            <a:chOff x="1693820" y="3429000"/>
            <a:chExt cx="2581635" cy="195289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26813-1A85-6A2B-7E09-F7291798A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3820" y="3429000"/>
              <a:ext cx="2581635" cy="1952898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5842651-FC88-F450-0487-A6898FC2FE41}"/>
                </a:ext>
              </a:extLst>
            </p:cNvPr>
            <p:cNvSpPr/>
            <p:nvPr/>
          </p:nvSpPr>
          <p:spPr>
            <a:xfrm>
              <a:off x="2167128" y="4992624"/>
              <a:ext cx="1289304" cy="1554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C6EA2E85-07E0-1C4E-9AFC-D882C5C91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970" y="4095734"/>
            <a:ext cx="2581635" cy="21632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770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C44F5-2E14-C612-19C1-0E2BEA09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5D60893-82EB-1445-8749-98C3D5C8A907}"/>
              </a:ext>
            </a:extLst>
          </p:cNvPr>
          <p:cNvSpPr txBox="1"/>
          <p:nvPr/>
        </p:nvSpPr>
        <p:spPr>
          <a:xfrm>
            <a:off x="164592" y="128016"/>
            <a:ext cx="804530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Mongo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Database</a:t>
            </a:r>
            <a:endParaRPr lang="fr-FR" sz="3200" b="1" u="sng" dirty="0">
              <a:solidFill>
                <a:schemeClr val="bg2">
                  <a:lumMod val="60000"/>
                  <a:lumOff val="4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Our mongo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database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has a collection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called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2000" dirty="0">
                <a:solidFill>
                  <a:schemeClr val="accent6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`QCPS_2`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containing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over 500 million of tweets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collected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from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feb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2022 to jan 2023. </a:t>
            </a:r>
          </a:p>
          <a:p>
            <a:pPr marL="342900" indent="-342900">
              <a:buAutoNum type="alphaUcPeriod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However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don't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have a user collection,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so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will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use the user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contained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 in the tweet </a:t>
            </a:r>
            <a:r>
              <a:rPr lang="fr-F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instead</a:t>
            </a:r>
            <a:r>
              <a:rPr lang="fr-FR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EBF69B-0A9A-FD34-2A7C-8BB427D48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002" y="2587751"/>
            <a:ext cx="3519337" cy="39217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6BFFB6-879C-9A69-3EDA-24880B71F2BC}"/>
              </a:ext>
            </a:extLst>
          </p:cNvPr>
          <p:cNvSpPr txBox="1"/>
          <p:nvPr/>
        </p:nvSpPr>
        <p:spPr>
          <a:xfrm>
            <a:off x="30540" y="4287027"/>
            <a:ext cx="68651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reply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tweet</a:t>
            </a:r>
            <a:endParaRPr lang="fr-B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CDB1C0A-8D3A-8593-2AC2-2DC454697A26}"/>
              </a:ext>
            </a:extLst>
          </p:cNvPr>
          <p:cNvSpPr/>
          <p:nvPr/>
        </p:nvSpPr>
        <p:spPr>
          <a:xfrm>
            <a:off x="724206" y="2587751"/>
            <a:ext cx="411480" cy="3921773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7EA3150-1FF2-4862-D559-3F31891DBB86}"/>
              </a:ext>
            </a:extLst>
          </p:cNvPr>
          <p:cNvSpPr/>
          <p:nvPr/>
        </p:nvSpPr>
        <p:spPr>
          <a:xfrm flipH="1">
            <a:off x="4827732" y="4242816"/>
            <a:ext cx="347472" cy="1965960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77F52A-078C-33DC-236B-206DBDAC7897}"/>
              </a:ext>
            </a:extLst>
          </p:cNvPr>
          <p:cNvSpPr txBox="1"/>
          <p:nvPr/>
        </p:nvSpPr>
        <p:spPr>
          <a:xfrm>
            <a:off x="5175204" y="4964186"/>
            <a:ext cx="2661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User's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profile at the time </a:t>
            </a:r>
          </a:p>
          <a:p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when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the tweet </a:t>
            </a:r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was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published</a:t>
            </a:r>
            <a:endParaRPr lang="fr-B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206DAC-969D-CA03-E99C-594AE62E4BC4}"/>
              </a:ext>
            </a:extLst>
          </p:cNvPr>
          <p:cNvSpPr/>
          <p:nvPr/>
        </p:nvSpPr>
        <p:spPr>
          <a:xfrm>
            <a:off x="1473959" y="4242816"/>
            <a:ext cx="3136392" cy="1965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21992A-C9CF-385E-7B03-2A7E4B91E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051" y="1083674"/>
            <a:ext cx="3516354" cy="5425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Left Brace 19">
            <a:extLst>
              <a:ext uri="{FF2B5EF4-FFF2-40B4-BE49-F238E27FC236}">
                <a16:creationId xmlns:a16="http://schemas.microsoft.com/office/drawing/2014/main" id="{015C4696-F1C7-0395-C80C-0AAAE7BA0455}"/>
              </a:ext>
            </a:extLst>
          </p:cNvPr>
          <p:cNvSpPr/>
          <p:nvPr/>
        </p:nvSpPr>
        <p:spPr>
          <a:xfrm>
            <a:off x="7980746" y="2332590"/>
            <a:ext cx="347473" cy="1782210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778322-129D-7F76-CA62-C3E4891CB649}"/>
              </a:ext>
            </a:extLst>
          </p:cNvPr>
          <p:cNvSpPr txBox="1"/>
          <p:nvPr/>
        </p:nvSpPr>
        <p:spPr>
          <a:xfrm>
            <a:off x="5669280" y="2746641"/>
            <a:ext cx="23226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The source tweet </a:t>
            </a:r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retweeted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by </a:t>
            </a:r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this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tweet</a:t>
            </a:r>
          </a:p>
          <a:p>
            <a:pPr algn="r"/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this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field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exists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only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if the </a:t>
            </a:r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current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tweet </a:t>
            </a:r>
            <a:r>
              <a:rPr lang="fr-F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 a retweet)</a:t>
            </a:r>
            <a:endParaRPr lang="fr-B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23FCFA-6396-3B87-8FAA-9C12B726AA53}"/>
              </a:ext>
            </a:extLst>
          </p:cNvPr>
          <p:cNvSpPr/>
          <p:nvPr/>
        </p:nvSpPr>
        <p:spPr>
          <a:xfrm>
            <a:off x="8589861" y="2332590"/>
            <a:ext cx="3136392" cy="1782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3D1048-2E33-0948-9DD6-4F9725BF25AC}"/>
              </a:ext>
            </a:extLst>
          </p:cNvPr>
          <p:cNvSpPr txBox="1"/>
          <p:nvPr/>
        </p:nvSpPr>
        <p:spPr>
          <a:xfrm>
            <a:off x="6917340" y="6165485"/>
            <a:ext cx="148198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retweet tweet </a:t>
            </a:r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</a:t>
            </a:r>
            <a:endParaRPr lang="fr-B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57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FAF0E-7083-27C0-F7BF-3138F568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AEC83D59-6877-B2BD-2C97-C3A5CE0ABEE9}"/>
              </a:ext>
            </a:extLst>
          </p:cNvPr>
          <p:cNvSpPr/>
          <p:nvPr/>
        </p:nvSpPr>
        <p:spPr>
          <a:xfrm>
            <a:off x="320096" y="1297568"/>
            <a:ext cx="4023304" cy="322680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Mongo </a:t>
            </a:r>
            <a:r>
              <a:rPr lang="fr-FR" dirty="0" err="1"/>
              <a:t>Database</a:t>
            </a:r>
            <a:endParaRPr lang="fr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AD068C-E582-3FA7-2622-60FFB0EDC42C}"/>
              </a:ext>
            </a:extLst>
          </p:cNvPr>
          <p:cNvSpPr txBox="1"/>
          <p:nvPr/>
        </p:nvSpPr>
        <p:spPr>
          <a:xfrm>
            <a:off x="164592" y="128016"/>
            <a:ext cx="8045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Fetched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</a:t>
            </a:r>
          </a:p>
          <a:p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29CC57-5194-059F-767C-6942964887CD}"/>
              </a:ext>
            </a:extLst>
          </p:cNvPr>
          <p:cNvSpPr txBox="1"/>
          <p:nvPr/>
        </p:nvSpPr>
        <p:spPr>
          <a:xfrm>
            <a:off x="1057114" y="867417"/>
            <a:ext cx="2549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Extracting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all tweets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0D37185-F8DA-0FA0-E9C0-185DFB4B02CE}"/>
              </a:ext>
            </a:extLst>
          </p:cNvPr>
          <p:cNvSpPr/>
          <p:nvPr/>
        </p:nvSpPr>
        <p:spPr>
          <a:xfrm>
            <a:off x="482974" y="1855118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1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33A9E53-0F1B-107D-872E-2044B4429C21}"/>
              </a:ext>
            </a:extLst>
          </p:cNvPr>
          <p:cNvSpPr/>
          <p:nvPr/>
        </p:nvSpPr>
        <p:spPr>
          <a:xfrm>
            <a:off x="1809748" y="2725730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5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5732BCE-8E21-DB04-81DF-64122514E928}"/>
              </a:ext>
            </a:extLst>
          </p:cNvPr>
          <p:cNvSpPr/>
          <p:nvPr/>
        </p:nvSpPr>
        <p:spPr>
          <a:xfrm>
            <a:off x="1809748" y="1855118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2</a:t>
            </a:r>
          </a:p>
          <a:p>
            <a:r>
              <a:rPr lang="fr-FR" sz="1600" dirty="0"/>
              <a:t>User B</a:t>
            </a:r>
            <a:endParaRPr lang="fr-BE" sz="16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C9950E-7F5D-B829-8688-16205A01297C}"/>
              </a:ext>
            </a:extLst>
          </p:cNvPr>
          <p:cNvSpPr/>
          <p:nvPr/>
        </p:nvSpPr>
        <p:spPr>
          <a:xfrm>
            <a:off x="482974" y="2725730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4</a:t>
            </a:r>
          </a:p>
          <a:p>
            <a:r>
              <a:rPr lang="fr-FR" sz="1600" dirty="0"/>
              <a:t>User B</a:t>
            </a:r>
            <a:endParaRPr lang="fr-BE" sz="16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83F635C-753C-D97D-441D-2C428CA15AB3}"/>
              </a:ext>
            </a:extLst>
          </p:cNvPr>
          <p:cNvSpPr/>
          <p:nvPr/>
        </p:nvSpPr>
        <p:spPr>
          <a:xfrm>
            <a:off x="3136522" y="1855118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3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53D08A5-3A2E-6191-0EC8-AF6897537AEF}"/>
              </a:ext>
            </a:extLst>
          </p:cNvPr>
          <p:cNvSpPr/>
          <p:nvPr/>
        </p:nvSpPr>
        <p:spPr>
          <a:xfrm>
            <a:off x="482974" y="3596342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7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6256EE9-4263-BE48-A26B-A956E7CC5A30}"/>
              </a:ext>
            </a:extLst>
          </p:cNvPr>
          <p:cNvSpPr/>
          <p:nvPr/>
        </p:nvSpPr>
        <p:spPr>
          <a:xfrm>
            <a:off x="1809748" y="3596342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8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8EB37F9-CE7A-42A8-8957-7999668E192F}"/>
              </a:ext>
            </a:extLst>
          </p:cNvPr>
          <p:cNvSpPr/>
          <p:nvPr/>
        </p:nvSpPr>
        <p:spPr>
          <a:xfrm>
            <a:off x="3136522" y="2725730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6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80EC2E2-5F61-59E4-98D8-8E1E5A8B3C2A}"/>
              </a:ext>
            </a:extLst>
          </p:cNvPr>
          <p:cNvSpPr/>
          <p:nvPr/>
        </p:nvSpPr>
        <p:spPr>
          <a:xfrm>
            <a:off x="3136522" y="3596342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9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24490D9-D41D-28EA-80D5-6BE6A36FF4B9}"/>
              </a:ext>
            </a:extLst>
          </p:cNvPr>
          <p:cNvSpPr txBox="1"/>
          <p:nvPr/>
        </p:nvSpPr>
        <p:spPr>
          <a:xfrm>
            <a:off x="4854256" y="867417"/>
            <a:ext cx="2811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2. Tweets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sorted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users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7D6E2FE-7E12-09F2-6B86-47CE874BC573}"/>
              </a:ext>
            </a:extLst>
          </p:cNvPr>
          <p:cNvSpPr txBox="1"/>
          <p:nvPr/>
        </p:nvSpPr>
        <p:spPr>
          <a:xfrm>
            <a:off x="8106783" y="867417"/>
            <a:ext cx="3920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Features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computed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by user batch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791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FC65-191F-EECF-6A5A-1B2B3F8C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91102AA-E965-AD7D-949E-742EB926DAA5}"/>
              </a:ext>
            </a:extLst>
          </p:cNvPr>
          <p:cNvSpPr/>
          <p:nvPr/>
        </p:nvSpPr>
        <p:spPr>
          <a:xfrm>
            <a:off x="320096" y="1297568"/>
            <a:ext cx="4023304" cy="322680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Mongo </a:t>
            </a:r>
            <a:r>
              <a:rPr lang="fr-FR" dirty="0" err="1"/>
              <a:t>Database</a:t>
            </a:r>
            <a:endParaRPr lang="fr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9D074-55E1-382C-00E3-8E1A7639AC7C}"/>
              </a:ext>
            </a:extLst>
          </p:cNvPr>
          <p:cNvSpPr txBox="1"/>
          <p:nvPr/>
        </p:nvSpPr>
        <p:spPr>
          <a:xfrm>
            <a:off x="164592" y="128016"/>
            <a:ext cx="8045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Fetched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</a:t>
            </a:r>
          </a:p>
          <a:p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FD4D22-21FD-83E2-28B4-DBC2350ACB44}"/>
              </a:ext>
            </a:extLst>
          </p:cNvPr>
          <p:cNvSpPr txBox="1"/>
          <p:nvPr/>
        </p:nvSpPr>
        <p:spPr>
          <a:xfrm>
            <a:off x="1057114" y="867417"/>
            <a:ext cx="2549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Extracting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all tweets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7507736-3BC9-60E5-5D91-C2F381991C03}"/>
              </a:ext>
            </a:extLst>
          </p:cNvPr>
          <p:cNvSpPr/>
          <p:nvPr/>
        </p:nvSpPr>
        <p:spPr>
          <a:xfrm>
            <a:off x="5854752" y="1421909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1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19EA3A9-9EFB-3B46-B6E5-D3CEAEBFA4A2}"/>
              </a:ext>
            </a:extLst>
          </p:cNvPr>
          <p:cNvSpPr/>
          <p:nvPr/>
        </p:nvSpPr>
        <p:spPr>
          <a:xfrm>
            <a:off x="5940477" y="1954657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5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35F5D68-9EB9-4AB6-02C9-810551160AD9}"/>
              </a:ext>
            </a:extLst>
          </p:cNvPr>
          <p:cNvSpPr/>
          <p:nvPr/>
        </p:nvSpPr>
        <p:spPr>
          <a:xfrm>
            <a:off x="6026202" y="2487405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6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08CA6D5-08BB-CAF9-9197-F08322541576}"/>
              </a:ext>
            </a:extLst>
          </p:cNvPr>
          <p:cNvSpPr/>
          <p:nvPr/>
        </p:nvSpPr>
        <p:spPr>
          <a:xfrm>
            <a:off x="6122498" y="3020153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2</a:t>
            </a:r>
          </a:p>
          <a:p>
            <a:r>
              <a:rPr lang="fr-FR" sz="1600" dirty="0"/>
              <a:t>User B</a:t>
            </a:r>
            <a:endParaRPr lang="fr-BE" sz="16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AC01CA5-FDB7-0AB7-310A-CDF5FF002CD7}"/>
              </a:ext>
            </a:extLst>
          </p:cNvPr>
          <p:cNvSpPr/>
          <p:nvPr/>
        </p:nvSpPr>
        <p:spPr>
          <a:xfrm>
            <a:off x="6208223" y="3552901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4</a:t>
            </a:r>
          </a:p>
          <a:p>
            <a:r>
              <a:rPr lang="fr-FR" sz="1600" dirty="0"/>
              <a:t>User B</a:t>
            </a:r>
            <a:endParaRPr lang="fr-BE" sz="16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7456F6D-9167-2C86-2274-7F51790FB510}"/>
              </a:ext>
            </a:extLst>
          </p:cNvPr>
          <p:cNvSpPr/>
          <p:nvPr/>
        </p:nvSpPr>
        <p:spPr>
          <a:xfrm>
            <a:off x="6293948" y="4085649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3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9E672CA-85B9-388D-45E0-3A39CA02125D}"/>
              </a:ext>
            </a:extLst>
          </p:cNvPr>
          <p:cNvSpPr/>
          <p:nvPr/>
        </p:nvSpPr>
        <p:spPr>
          <a:xfrm>
            <a:off x="6379673" y="4618397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7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6806DDC-1187-C939-7234-A160C69C4A2F}"/>
              </a:ext>
            </a:extLst>
          </p:cNvPr>
          <p:cNvSpPr/>
          <p:nvPr/>
        </p:nvSpPr>
        <p:spPr>
          <a:xfrm>
            <a:off x="6465398" y="5151145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8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CDEA990-98F6-9312-1155-6A5219F852D8}"/>
              </a:ext>
            </a:extLst>
          </p:cNvPr>
          <p:cNvSpPr/>
          <p:nvPr/>
        </p:nvSpPr>
        <p:spPr>
          <a:xfrm>
            <a:off x="6551123" y="5683893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9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E1458-6946-5EB5-219F-48BE6565BEA8}"/>
              </a:ext>
            </a:extLst>
          </p:cNvPr>
          <p:cNvSpPr txBox="1"/>
          <p:nvPr/>
        </p:nvSpPr>
        <p:spPr>
          <a:xfrm>
            <a:off x="4854256" y="867417"/>
            <a:ext cx="2811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2. Tweets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sorted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users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9CF7E-F6AA-CE78-02C1-2B0689A7EC52}"/>
              </a:ext>
            </a:extLst>
          </p:cNvPr>
          <p:cNvSpPr txBox="1"/>
          <p:nvPr/>
        </p:nvSpPr>
        <p:spPr>
          <a:xfrm>
            <a:off x="8106783" y="867417"/>
            <a:ext cx="3920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Features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computed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by user batch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415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44D9C-EE06-5407-BA53-7A4FFBA8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A59520B-3063-B4ED-FD79-6860B92B8912}"/>
              </a:ext>
            </a:extLst>
          </p:cNvPr>
          <p:cNvSpPr/>
          <p:nvPr/>
        </p:nvSpPr>
        <p:spPr>
          <a:xfrm>
            <a:off x="320096" y="1297568"/>
            <a:ext cx="4023304" cy="322680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Mongo </a:t>
            </a:r>
            <a:r>
              <a:rPr lang="fr-FR" dirty="0" err="1"/>
              <a:t>Database</a:t>
            </a:r>
            <a:endParaRPr lang="fr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748CB3-5228-0351-058C-32C8F5BDF275}"/>
              </a:ext>
            </a:extLst>
          </p:cNvPr>
          <p:cNvSpPr txBox="1"/>
          <p:nvPr/>
        </p:nvSpPr>
        <p:spPr>
          <a:xfrm>
            <a:off x="164592" y="128016"/>
            <a:ext cx="8045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Fetched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</a:t>
            </a:r>
          </a:p>
          <a:p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F949AE-6805-444C-0DED-A745635B05DF}"/>
              </a:ext>
            </a:extLst>
          </p:cNvPr>
          <p:cNvSpPr/>
          <p:nvPr/>
        </p:nvSpPr>
        <p:spPr>
          <a:xfrm>
            <a:off x="9763521" y="1271546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1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2ED411-302B-DC1A-4065-BA1379E224D8}"/>
              </a:ext>
            </a:extLst>
          </p:cNvPr>
          <p:cNvSpPr/>
          <p:nvPr/>
        </p:nvSpPr>
        <p:spPr>
          <a:xfrm>
            <a:off x="9849246" y="1804294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5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2D3D13B-CCA4-0576-1CEF-D0E05AE8EFE2}"/>
              </a:ext>
            </a:extLst>
          </p:cNvPr>
          <p:cNvSpPr/>
          <p:nvPr/>
        </p:nvSpPr>
        <p:spPr>
          <a:xfrm>
            <a:off x="9763521" y="3123000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2</a:t>
            </a:r>
          </a:p>
          <a:p>
            <a:r>
              <a:rPr lang="fr-FR" sz="1600" dirty="0"/>
              <a:t>User B</a:t>
            </a:r>
            <a:endParaRPr lang="fr-BE" sz="1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D168E7-FBAB-86F1-3C8C-B53EE940CE7C}"/>
              </a:ext>
            </a:extLst>
          </p:cNvPr>
          <p:cNvSpPr/>
          <p:nvPr/>
        </p:nvSpPr>
        <p:spPr>
          <a:xfrm>
            <a:off x="9849246" y="3655748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4</a:t>
            </a:r>
          </a:p>
          <a:p>
            <a:r>
              <a:rPr lang="fr-FR" sz="1600" dirty="0"/>
              <a:t>User B</a:t>
            </a:r>
            <a:endParaRPr lang="fr-BE" sz="1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6C90DE9-8860-5598-2B86-78DF7C222890}"/>
              </a:ext>
            </a:extLst>
          </p:cNvPr>
          <p:cNvSpPr/>
          <p:nvPr/>
        </p:nvSpPr>
        <p:spPr>
          <a:xfrm>
            <a:off x="9763521" y="4441706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3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FF8F1D3-205D-E234-C49D-A46E455228BF}"/>
              </a:ext>
            </a:extLst>
          </p:cNvPr>
          <p:cNvSpPr/>
          <p:nvPr/>
        </p:nvSpPr>
        <p:spPr>
          <a:xfrm>
            <a:off x="9849246" y="4974454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7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CDF3E24-2667-61D0-E6B8-6B54FCF9E1A2}"/>
              </a:ext>
            </a:extLst>
          </p:cNvPr>
          <p:cNvSpPr/>
          <p:nvPr/>
        </p:nvSpPr>
        <p:spPr>
          <a:xfrm>
            <a:off x="9934971" y="5507202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8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7DB34D-A390-CAF8-A9DE-450A34D56FB0}"/>
              </a:ext>
            </a:extLst>
          </p:cNvPr>
          <p:cNvSpPr txBox="1"/>
          <p:nvPr/>
        </p:nvSpPr>
        <p:spPr>
          <a:xfrm>
            <a:off x="1057114" y="867417"/>
            <a:ext cx="2549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Extracting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all tweets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46C09-06D8-A8EA-3D41-2DBABBE7D14D}"/>
              </a:ext>
            </a:extLst>
          </p:cNvPr>
          <p:cNvSpPr txBox="1"/>
          <p:nvPr/>
        </p:nvSpPr>
        <p:spPr>
          <a:xfrm>
            <a:off x="4854256" y="867417"/>
            <a:ext cx="2811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2. Tweets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sorted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users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F606D26-775D-66F6-CFEC-16975FFA166D}"/>
              </a:ext>
            </a:extLst>
          </p:cNvPr>
          <p:cNvSpPr/>
          <p:nvPr/>
        </p:nvSpPr>
        <p:spPr>
          <a:xfrm>
            <a:off x="9934971" y="2337042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6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14B447A-9FB7-5662-A7A3-D3169547132C}"/>
              </a:ext>
            </a:extLst>
          </p:cNvPr>
          <p:cNvSpPr/>
          <p:nvPr/>
        </p:nvSpPr>
        <p:spPr>
          <a:xfrm>
            <a:off x="10020696" y="6039950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9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7E37B5-EE80-72B5-DCF2-2A6E80B684FB}"/>
              </a:ext>
            </a:extLst>
          </p:cNvPr>
          <p:cNvSpPr txBox="1"/>
          <p:nvPr/>
        </p:nvSpPr>
        <p:spPr>
          <a:xfrm>
            <a:off x="8106783" y="867417"/>
            <a:ext cx="3920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Features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computed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by user batch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733714DB-4E0C-314B-7E55-06C3AD72E2E0}"/>
              </a:ext>
            </a:extLst>
          </p:cNvPr>
          <p:cNvSpPr/>
          <p:nvPr/>
        </p:nvSpPr>
        <p:spPr>
          <a:xfrm>
            <a:off x="9113326" y="1276336"/>
            <a:ext cx="212436" cy="1672706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ACAE2BBE-4828-74DD-F95D-79AB22B13169}"/>
              </a:ext>
            </a:extLst>
          </p:cNvPr>
          <p:cNvSpPr/>
          <p:nvPr/>
        </p:nvSpPr>
        <p:spPr>
          <a:xfrm>
            <a:off x="9113326" y="3125395"/>
            <a:ext cx="212436" cy="1142353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109EA1F-2E8D-7336-E0FA-68E812B9A483}"/>
              </a:ext>
            </a:extLst>
          </p:cNvPr>
          <p:cNvSpPr/>
          <p:nvPr/>
        </p:nvSpPr>
        <p:spPr>
          <a:xfrm>
            <a:off x="9113326" y="4441706"/>
            <a:ext cx="212436" cy="2210244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2D8E2-EF31-A80A-E88D-2C72A35BACA7}"/>
              </a:ext>
            </a:extLst>
          </p:cNvPr>
          <p:cNvSpPr txBox="1"/>
          <p:nvPr/>
        </p:nvSpPr>
        <p:spPr>
          <a:xfrm>
            <a:off x="4775720" y="2675873"/>
            <a:ext cx="31792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Once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finished</a:t>
            </a:r>
            <a:r>
              <a:rPr lang="fr-FR" dirty="0"/>
              <a:t> </a:t>
            </a:r>
            <a:r>
              <a:rPr lang="fr-FR" dirty="0" err="1"/>
              <a:t>iterating</a:t>
            </a:r>
            <a:r>
              <a:rPr lang="fr-FR" dirty="0"/>
              <a:t> on all user A tweets,</a:t>
            </a:r>
            <a:r>
              <a:rPr lang="fr-BE" dirty="0"/>
              <a:t> </a:t>
            </a:r>
            <a:r>
              <a:rPr lang="fr-BE" dirty="0" err="1"/>
              <a:t>These</a:t>
            </a:r>
            <a:r>
              <a:rPr lang="fr-BE" dirty="0"/>
              <a:t> tweets are </a:t>
            </a:r>
            <a:r>
              <a:rPr lang="fr-BE" dirty="0" err="1"/>
              <a:t>aggregated</a:t>
            </a:r>
            <a:r>
              <a:rPr lang="fr-BE" dirty="0"/>
              <a:t> to </a:t>
            </a:r>
            <a:r>
              <a:rPr lang="fr-BE" dirty="0" err="1"/>
              <a:t>compute</a:t>
            </a:r>
            <a:r>
              <a:rPr lang="fr-BE" dirty="0"/>
              <a:t> </a:t>
            </a:r>
            <a:r>
              <a:rPr lang="fr-BE" dirty="0" err="1"/>
              <a:t>their</a:t>
            </a:r>
            <a:r>
              <a:rPr lang="fr-BE" dirty="0"/>
              <a:t> </a:t>
            </a:r>
            <a:r>
              <a:rPr lang="fr-BE" dirty="0" err="1"/>
              <a:t>features</a:t>
            </a:r>
            <a:r>
              <a:rPr lang="fr-BE" dirty="0"/>
              <a:t>.</a:t>
            </a:r>
          </a:p>
          <a:p>
            <a:pPr algn="just"/>
            <a:endParaRPr lang="fr-BE" dirty="0"/>
          </a:p>
          <a:p>
            <a:pPr algn="just"/>
            <a:r>
              <a:rPr lang="fr-FR" dirty="0"/>
              <a:t>In reality, </a:t>
            </a:r>
            <a:r>
              <a:rPr lang="fr-FR" dirty="0" err="1"/>
              <a:t>we</a:t>
            </a:r>
            <a:r>
              <a:rPr lang="fr-FR" dirty="0"/>
              <a:t> use a batch of X </a:t>
            </a:r>
            <a:r>
              <a:rPr lang="fr-FR" dirty="0" err="1"/>
              <a:t>users</a:t>
            </a:r>
            <a:r>
              <a:rPr lang="fr-FR" dirty="0"/>
              <a:t>, per </a:t>
            </a:r>
            <a:r>
              <a:rPr lang="fr-FR" dirty="0" err="1"/>
              <a:t>iteration</a:t>
            </a:r>
            <a:r>
              <a:rPr lang="fr-FR" dirty="0"/>
              <a:t> and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create</a:t>
            </a:r>
            <a:r>
              <a:rPr lang="fr-FR" dirty="0"/>
              <a:t> checkpoint files for performance </a:t>
            </a:r>
            <a:r>
              <a:rPr lang="fr-FR" dirty="0" err="1"/>
              <a:t>reason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66BB2-59BA-B6DE-2BCF-7EC37642B4CC}"/>
              </a:ext>
            </a:extLst>
          </p:cNvPr>
          <p:cNvSpPr txBox="1"/>
          <p:nvPr/>
        </p:nvSpPr>
        <p:spPr>
          <a:xfrm>
            <a:off x="8173880" y="1925628"/>
            <a:ext cx="3179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User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7FE83A-E8B3-B71F-9E40-B331ADA72735}"/>
              </a:ext>
            </a:extLst>
          </p:cNvPr>
          <p:cNvSpPr txBox="1"/>
          <p:nvPr/>
        </p:nvSpPr>
        <p:spPr>
          <a:xfrm>
            <a:off x="8173880" y="3511905"/>
            <a:ext cx="3179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User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E6055D-96CD-DF7E-7684-983D9D49FD4D}"/>
              </a:ext>
            </a:extLst>
          </p:cNvPr>
          <p:cNvSpPr txBox="1"/>
          <p:nvPr/>
        </p:nvSpPr>
        <p:spPr>
          <a:xfrm>
            <a:off x="8173880" y="5362162"/>
            <a:ext cx="3179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User C</a:t>
            </a:r>
          </a:p>
        </p:txBody>
      </p:sp>
    </p:spTree>
    <p:extLst>
      <p:ext uri="{BB962C8B-B14F-4D97-AF65-F5344CB8AC3E}">
        <p14:creationId xmlns:p14="http://schemas.microsoft.com/office/powerpoint/2010/main" val="1924377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C6439-1F88-D004-AD0C-E5CDEC0B9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E9115CA-B424-92FB-C22C-D23B46D5BD64}"/>
              </a:ext>
            </a:extLst>
          </p:cNvPr>
          <p:cNvSpPr txBox="1"/>
          <p:nvPr/>
        </p:nvSpPr>
        <p:spPr>
          <a:xfrm>
            <a:off x="164592" y="128016"/>
            <a:ext cx="11824208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u="sng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 2: User </a:t>
            </a:r>
            <a:r>
              <a:rPr lang="fr-FR" sz="3600" b="1" u="sng" dirty="0" err="1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r>
              <a:rPr lang="fr-FR" sz="3600" b="1" u="sng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computation</a:t>
            </a: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compute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user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by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iterating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over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every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tweets, user by user.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Since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our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tweets are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ordered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by user id.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know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that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when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the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next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user id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different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finished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iterating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over all the tweets of the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current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user. For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fr-BE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First tweet (by user 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Second tweet (by user 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Third tweet (by user 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Fourth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tweet </a:t>
            </a:r>
            <a:r>
              <a:rPr lang="fr-BE" sz="20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(by user 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000" dirty="0"/>
              <a:t>The </a:t>
            </a:r>
            <a:r>
              <a:rPr lang="fr-FR" sz="2000" dirty="0" err="1"/>
              <a:t>fourth</a:t>
            </a:r>
            <a:r>
              <a:rPr lang="fr-FR" sz="2000" dirty="0"/>
              <a:t> tweet has a </a:t>
            </a:r>
            <a:r>
              <a:rPr lang="fr-FR" sz="2000" dirty="0" err="1"/>
              <a:t>different</a:t>
            </a:r>
            <a:r>
              <a:rPr lang="fr-FR" sz="2000" dirty="0"/>
              <a:t> user </a:t>
            </a:r>
            <a:r>
              <a:rPr lang="fr-FR" sz="2000" dirty="0">
                <a:sym typeface="Wingdings" panose="05000000000000000000" pitchFamily="2" charset="2"/>
              </a:rPr>
              <a:t> It </a:t>
            </a:r>
            <a:r>
              <a:rPr lang="fr-FR" sz="2000" dirty="0" err="1">
                <a:sym typeface="Wingdings" panose="05000000000000000000" pitchFamily="2" charset="2"/>
              </a:rPr>
              <a:t>means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that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we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finished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iterating</a:t>
            </a:r>
            <a:r>
              <a:rPr lang="fr-FR" sz="2000" dirty="0">
                <a:sym typeface="Wingdings" panose="05000000000000000000" pitchFamily="2" charset="2"/>
              </a:rPr>
              <a:t> over all user </a:t>
            </a:r>
            <a:r>
              <a:rPr lang="fr-FR" sz="2000" dirty="0" err="1">
                <a:sym typeface="Wingdings" panose="05000000000000000000" pitchFamily="2" charset="2"/>
              </a:rPr>
              <a:t>A's</a:t>
            </a:r>
            <a:r>
              <a:rPr lang="fr-FR" sz="2000" dirty="0">
                <a:sym typeface="Wingdings" panose="05000000000000000000" pitchFamily="2" charset="2"/>
              </a:rPr>
              <a:t> tweet. So </a:t>
            </a:r>
            <a:r>
              <a:rPr lang="fr-FR" sz="2000" dirty="0" err="1">
                <a:sym typeface="Wingdings" panose="05000000000000000000" pitchFamily="2" charset="2"/>
              </a:rPr>
              <a:t>we</a:t>
            </a:r>
            <a:r>
              <a:rPr lang="fr-FR" sz="2000" dirty="0">
                <a:sym typeface="Wingdings" panose="05000000000000000000" pitchFamily="2" charset="2"/>
              </a:rPr>
              <a:t> can </a:t>
            </a:r>
            <a:r>
              <a:rPr lang="fr-FR" sz="2000" dirty="0" err="1">
                <a:sym typeface="Wingdings" panose="05000000000000000000" pitchFamily="2" charset="2"/>
              </a:rPr>
              <a:t>now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aggregate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their</a:t>
            </a:r>
            <a:r>
              <a:rPr lang="fr-FR" sz="2000" dirty="0">
                <a:sym typeface="Wingdings" panose="05000000000000000000" pitchFamily="2" charset="2"/>
              </a:rPr>
              <a:t> tweets and </a:t>
            </a:r>
            <a:r>
              <a:rPr lang="fr-FR" sz="2000" dirty="0" err="1">
                <a:sym typeface="Wingdings" panose="05000000000000000000" pitchFamily="2" charset="2"/>
              </a:rPr>
              <a:t>compute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their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features</a:t>
            </a:r>
            <a:r>
              <a:rPr lang="fr-FR" sz="2000" dirty="0">
                <a:sym typeface="Wingdings" panose="05000000000000000000" pitchFamily="2" charset="2"/>
              </a:rPr>
              <a:t>.</a:t>
            </a:r>
            <a:endParaRPr lang="fr-BE" sz="2000" dirty="0"/>
          </a:p>
          <a:p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Note: There are 2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different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steps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in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this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computation:</a:t>
            </a:r>
          </a:p>
          <a:p>
            <a:endParaRPr lang="fr-BE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AutoNum type="arabicPeriod"/>
            </a:pP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Iteration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every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tweets +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creating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checkpoints for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every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batch +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edges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computation</a:t>
            </a:r>
          </a:p>
          <a:p>
            <a:pPr marL="457200" indent="-457200">
              <a:buAutoNum type="arabicPeriod"/>
            </a:pP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Merging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all checkpoints,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creating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a full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list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nodes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edges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screen_name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-id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as CSV</a:t>
            </a:r>
          </a:p>
          <a:p>
            <a:pPr marL="457200" indent="-457200">
              <a:buAutoNum type="arabicPeriod"/>
            </a:pPr>
            <a:endParaRPr lang="fr-BE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Once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these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steps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are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accomplished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, the data extraction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finished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, the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next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step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fr-BE" sz="2000" dirty="0">
                <a:latin typeface="Segoe UI" panose="020B0502040204020203" pitchFamily="34" charset="0"/>
                <a:cs typeface="Segoe UI" panose="020B0502040204020203" pitchFamily="34" charset="0"/>
              </a:rPr>
              <a:t> Graph construction.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986B7268-4AAE-D274-2CB3-64993F8BF045}"/>
              </a:ext>
            </a:extLst>
          </p:cNvPr>
          <p:cNvSpPr/>
          <p:nvPr/>
        </p:nvSpPr>
        <p:spPr>
          <a:xfrm flipH="1">
            <a:off x="3325089" y="2070663"/>
            <a:ext cx="246417" cy="931155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8F694-C5C1-DEFD-0A38-C6A021F3CF66}"/>
              </a:ext>
            </a:extLst>
          </p:cNvPr>
          <p:cNvSpPr txBox="1"/>
          <p:nvPr/>
        </p:nvSpPr>
        <p:spPr>
          <a:xfrm>
            <a:off x="3571506" y="2351574"/>
            <a:ext cx="169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User </a:t>
            </a:r>
            <a:r>
              <a:rPr lang="fr-FR" dirty="0" err="1"/>
              <a:t>A's</a:t>
            </a:r>
            <a:r>
              <a:rPr lang="fr-FR" dirty="0"/>
              <a:t> tweets</a:t>
            </a:r>
            <a:endParaRPr lang="fr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7CC0E-CFFB-B9DD-363C-BA11CB2B0D21}"/>
              </a:ext>
            </a:extLst>
          </p:cNvPr>
          <p:cNvSpPr txBox="1"/>
          <p:nvPr/>
        </p:nvSpPr>
        <p:spPr>
          <a:xfrm>
            <a:off x="4054764" y="2955698"/>
            <a:ext cx="176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chemeClr val="accent5"/>
                </a:solidFill>
              </a:rPr>
              <a:t>Different</a:t>
            </a:r>
            <a:r>
              <a:rPr lang="fr-FR" dirty="0">
                <a:solidFill>
                  <a:schemeClr val="accent5"/>
                </a:solidFill>
              </a:rPr>
              <a:t> user id</a:t>
            </a:r>
            <a:endParaRPr lang="fr-BE" dirty="0">
              <a:solidFill>
                <a:schemeClr val="accent5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5C4E52F-A463-D4E2-3013-EF0BF303F222}"/>
              </a:ext>
            </a:extLst>
          </p:cNvPr>
          <p:cNvCxnSpPr/>
          <p:nvPr/>
        </p:nvCxnSpPr>
        <p:spPr>
          <a:xfrm>
            <a:off x="3325089" y="3140364"/>
            <a:ext cx="72967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103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2B767-210C-13ED-4799-A391A1CD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892ACE2-938B-2466-3820-CCD5A2C3B52A}"/>
              </a:ext>
            </a:extLst>
          </p:cNvPr>
          <p:cNvSpPr txBox="1"/>
          <p:nvPr/>
        </p:nvSpPr>
        <p:spPr>
          <a:xfrm>
            <a:off x="164592" y="128016"/>
            <a:ext cx="8045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Computing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endParaRPr lang="fr-FR" sz="3200" b="1" u="sng" dirty="0">
              <a:solidFill>
                <a:schemeClr val="bg2">
                  <a:lumMod val="60000"/>
                  <a:lumOff val="4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470B98-FB77-1D03-23EF-B33DC381F80B}"/>
              </a:ext>
            </a:extLst>
          </p:cNvPr>
          <p:cNvSpPr/>
          <p:nvPr/>
        </p:nvSpPr>
        <p:spPr>
          <a:xfrm>
            <a:off x="656466" y="1271546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1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0A8C1E-84FA-A995-FADC-1DFCCEC90C9F}"/>
              </a:ext>
            </a:extLst>
          </p:cNvPr>
          <p:cNvSpPr/>
          <p:nvPr/>
        </p:nvSpPr>
        <p:spPr>
          <a:xfrm>
            <a:off x="742191" y="1804294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5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452C29E-DFB4-407E-842E-D1453A72925F}"/>
              </a:ext>
            </a:extLst>
          </p:cNvPr>
          <p:cNvSpPr/>
          <p:nvPr/>
        </p:nvSpPr>
        <p:spPr>
          <a:xfrm>
            <a:off x="656466" y="3123000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2</a:t>
            </a:r>
          </a:p>
          <a:p>
            <a:r>
              <a:rPr lang="fr-FR" sz="1600" dirty="0"/>
              <a:t>User B</a:t>
            </a:r>
            <a:endParaRPr lang="fr-BE" sz="1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031EFB7-1C84-1F82-015F-004F947E39EC}"/>
              </a:ext>
            </a:extLst>
          </p:cNvPr>
          <p:cNvSpPr/>
          <p:nvPr/>
        </p:nvSpPr>
        <p:spPr>
          <a:xfrm>
            <a:off x="742191" y="3655748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4</a:t>
            </a:r>
          </a:p>
          <a:p>
            <a:r>
              <a:rPr lang="fr-FR" sz="1600" dirty="0"/>
              <a:t>User B</a:t>
            </a:r>
            <a:endParaRPr lang="fr-BE" sz="1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9F55039-B586-5202-7A50-14D89AF875D2}"/>
              </a:ext>
            </a:extLst>
          </p:cNvPr>
          <p:cNvSpPr/>
          <p:nvPr/>
        </p:nvSpPr>
        <p:spPr>
          <a:xfrm>
            <a:off x="656466" y="4441706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3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3C4AD6-5440-BADA-756B-3C86F6FE800C}"/>
              </a:ext>
            </a:extLst>
          </p:cNvPr>
          <p:cNvSpPr/>
          <p:nvPr/>
        </p:nvSpPr>
        <p:spPr>
          <a:xfrm>
            <a:off x="742191" y="4974454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7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D89133F-720F-D501-5A54-0FC54E8F7ADE}"/>
              </a:ext>
            </a:extLst>
          </p:cNvPr>
          <p:cNvSpPr/>
          <p:nvPr/>
        </p:nvSpPr>
        <p:spPr>
          <a:xfrm>
            <a:off x="827916" y="5507202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8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E78998F-48C1-A57C-F86B-E1FD7CBBD81D}"/>
              </a:ext>
            </a:extLst>
          </p:cNvPr>
          <p:cNvSpPr/>
          <p:nvPr/>
        </p:nvSpPr>
        <p:spPr>
          <a:xfrm>
            <a:off x="827916" y="2337042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6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5050C15-3176-CFE4-5DFF-BED3F3D792E7}"/>
              </a:ext>
            </a:extLst>
          </p:cNvPr>
          <p:cNvSpPr/>
          <p:nvPr/>
        </p:nvSpPr>
        <p:spPr>
          <a:xfrm>
            <a:off x="913641" y="6039950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9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51D8E3-BE2A-9877-41B8-4EC72D866A62}"/>
              </a:ext>
            </a:extLst>
          </p:cNvPr>
          <p:cNvSpPr txBox="1"/>
          <p:nvPr/>
        </p:nvSpPr>
        <p:spPr>
          <a:xfrm>
            <a:off x="164593" y="867417"/>
            <a:ext cx="11862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Features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Computation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B0210-66D7-D17F-95E6-706E95A42438}"/>
              </a:ext>
            </a:extLst>
          </p:cNvPr>
          <p:cNvSpPr txBox="1"/>
          <p:nvPr/>
        </p:nvSpPr>
        <p:spPr>
          <a:xfrm>
            <a:off x="2518926" y="1925628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User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F8EC8-3098-1E53-EAF4-FD9BE8C8016E}"/>
              </a:ext>
            </a:extLst>
          </p:cNvPr>
          <p:cNvSpPr txBox="1"/>
          <p:nvPr/>
        </p:nvSpPr>
        <p:spPr>
          <a:xfrm>
            <a:off x="2518926" y="3505701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User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CF6C9A-A3FF-5D20-8543-7044B65A8716}"/>
              </a:ext>
            </a:extLst>
          </p:cNvPr>
          <p:cNvSpPr txBox="1"/>
          <p:nvPr/>
        </p:nvSpPr>
        <p:spPr>
          <a:xfrm>
            <a:off x="2518926" y="5367169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User C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530BF9-85F5-C729-CF34-9AB28FD21591}"/>
              </a:ext>
            </a:extLst>
          </p:cNvPr>
          <p:cNvGrpSpPr/>
          <p:nvPr/>
        </p:nvGrpSpPr>
        <p:grpSpPr>
          <a:xfrm>
            <a:off x="2166892" y="1271547"/>
            <a:ext cx="352034" cy="5380403"/>
            <a:chOff x="2166892" y="1271547"/>
            <a:chExt cx="352034" cy="5380403"/>
          </a:xfrm>
        </p:grpSpPr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818981E0-99F9-CA8D-8AF3-482BDA5BE67B}"/>
                </a:ext>
              </a:extLst>
            </p:cNvPr>
            <p:cNvSpPr/>
            <p:nvPr/>
          </p:nvSpPr>
          <p:spPr>
            <a:xfrm flipH="1">
              <a:off x="2166892" y="3125395"/>
              <a:ext cx="352034" cy="1142353"/>
            </a:xfrm>
            <a:prstGeom prst="leftBrac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C63C16FB-67F9-C5D2-FB23-D131C259F946}"/>
                </a:ext>
              </a:extLst>
            </p:cNvPr>
            <p:cNvSpPr/>
            <p:nvPr/>
          </p:nvSpPr>
          <p:spPr>
            <a:xfrm flipH="1">
              <a:off x="2166892" y="4441706"/>
              <a:ext cx="352034" cy="2210244"/>
            </a:xfrm>
            <a:prstGeom prst="leftBrac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CF7A86E2-F046-5475-9F8D-55ED57A4876A}"/>
                </a:ext>
              </a:extLst>
            </p:cNvPr>
            <p:cNvSpPr/>
            <p:nvPr/>
          </p:nvSpPr>
          <p:spPr>
            <a:xfrm flipH="1">
              <a:off x="2166892" y="1271547"/>
              <a:ext cx="352034" cy="1677496"/>
            </a:xfrm>
            <a:prstGeom prst="leftBrac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</p:grpSp>
    </p:spTree>
    <p:extLst>
      <p:ext uri="{BB962C8B-B14F-4D97-AF65-F5344CB8AC3E}">
        <p14:creationId xmlns:p14="http://schemas.microsoft.com/office/powerpoint/2010/main" val="3722819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8465-F167-8A44-6447-919E7DC6B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324F22-2C1F-40B9-8F80-16B54CBBF3B2}"/>
              </a:ext>
            </a:extLst>
          </p:cNvPr>
          <p:cNvSpPr txBox="1"/>
          <p:nvPr/>
        </p:nvSpPr>
        <p:spPr>
          <a:xfrm>
            <a:off x="164592" y="128016"/>
            <a:ext cx="8045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Computing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endParaRPr lang="fr-FR" sz="3200" b="1" u="sng" dirty="0">
              <a:solidFill>
                <a:schemeClr val="bg2">
                  <a:lumMod val="60000"/>
                  <a:lumOff val="4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1A6030-3E78-DC8C-DA81-29F4C446E6B2}"/>
              </a:ext>
            </a:extLst>
          </p:cNvPr>
          <p:cNvSpPr/>
          <p:nvPr/>
        </p:nvSpPr>
        <p:spPr>
          <a:xfrm>
            <a:off x="2105421" y="2029585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1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F7AA619-DE85-EEEC-3C13-406860C36B04}"/>
              </a:ext>
            </a:extLst>
          </p:cNvPr>
          <p:cNvSpPr/>
          <p:nvPr/>
        </p:nvSpPr>
        <p:spPr>
          <a:xfrm>
            <a:off x="4522414" y="2029585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5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43D6261-E29C-F0E2-3E04-D7D44114C12D}"/>
              </a:ext>
            </a:extLst>
          </p:cNvPr>
          <p:cNvSpPr/>
          <p:nvPr/>
        </p:nvSpPr>
        <p:spPr>
          <a:xfrm>
            <a:off x="2901059" y="3521369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2</a:t>
            </a:r>
          </a:p>
          <a:p>
            <a:r>
              <a:rPr lang="fr-FR" sz="1600" dirty="0"/>
              <a:t>User B</a:t>
            </a:r>
            <a:endParaRPr lang="fr-BE" sz="1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C3E4A6-5CD1-9F48-0D62-F35C9C5734BE}"/>
              </a:ext>
            </a:extLst>
          </p:cNvPr>
          <p:cNvSpPr/>
          <p:nvPr/>
        </p:nvSpPr>
        <p:spPr>
          <a:xfrm>
            <a:off x="6188543" y="3521369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4</a:t>
            </a:r>
          </a:p>
          <a:p>
            <a:r>
              <a:rPr lang="fr-FR" sz="1600" dirty="0"/>
              <a:t>User B</a:t>
            </a:r>
            <a:endParaRPr lang="fr-BE" sz="1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9AFB076-A207-2CA4-F6BB-70866E05D03A}"/>
              </a:ext>
            </a:extLst>
          </p:cNvPr>
          <p:cNvSpPr/>
          <p:nvPr/>
        </p:nvSpPr>
        <p:spPr>
          <a:xfrm>
            <a:off x="2105421" y="5013153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3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94C678F-6A69-D680-DFF2-7CF53B6096FD}"/>
              </a:ext>
            </a:extLst>
          </p:cNvPr>
          <p:cNvSpPr/>
          <p:nvPr/>
        </p:nvSpPr>
        <p:spPr>
          <a:xfrm>
            <a:off x="3695921" y="5013152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7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49DF19D-ACAD-B864-69AF-082F2523DF07}"/>
              </a:ext>
            </a:extLst>
          </p:cNvPr>
          <p:cNvSpPr/>
          <p:nvPr/>
        </p:nvSpPr>
        <p:spPr>
          <a:xfrm>
            <a:off x="5357669" y="5013152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8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FDDCB6-4E0E-B959-B7D0-FAB1E815A7DD}"/>
              </a:ext>
            </a:extLst>
          </p:cNvPr>
          <p:cNvSpPr/>
          <p:nvPr/>
        </p:nvSpPr>
        <p:spPr>
          <a:xfrm>
            <a:off x="7019417" y="2029585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6</a:t>
            </a:r>
          </a:p>
          <a:p>
            <a:r>
              <a:rPr lang="fr-FR" sz="1600" dirty="0"/>
              <a:t>User A</a:t>
            </a:r>
            <a:endParaRPr lang="fr-BE" sz="1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3AE79BF-935C-0C52-1F27-C1AEC300041A}"/>
              </a:ext>
            </a:extLst>
          </p:cNvPr>
          <p:cNvSpPr/>
          <p:nvPr/>
        </p:nvSpPr>
        <p:spPr>
          <a:xfrm>
            <a:off x="7019417" y="5013152"/>
            <a:ext cx="1044000" cy="61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/>
              <a:t>Tweet 9</a:t>
            </a:r>
          </a:p>
          <a:p>
            <a:r>
              <a:rPr lang="fr-FR" sz="1600" dirty="0"/>
              <a:t>User C</a:t>
            </a:r>
            <a:endParaRPr lang="fr-BE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A10B5-6675-F859-C2D4-7FEBEACFF6EA}"/>
              </a:ext>
            </a:extLst>
          </p:cNvPr>
          <p:cNvSpPr txBox="1"/>
          <p:nvPr/>
        </p:nvSpPr>
        <p:spPr>
          <a:xfrm>
            <a:off x="164593" y="867417"/>
            <a:ext cx="11862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Features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Computation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1DFF9-6692-B504-B47C-74BCE5A756DB}"/>
              </a:ext>
            </a:extLst>
          </p:cNvPr>
          <p:cNvSpPr txBox="1"/>
          <p:nvPr/>
        </p:nvSpPr>
        <p:spPr>
          <a:xfrm>
            <a:off x="164593" y="2150919"/>
            <a:ext cx="187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User A </a:t>
            </a:r>
            <a:r>
              <a:rPr lang="fr-FR" dirty="0" err="1"/>
              <a:t>features</a:t>
            </a:r>
            <a:r>
              <a:rPr lang="fr-FR" dirty="0"/>
              <a:t>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B43F9-D53A-C78F-1C18-4005DF0FC338}"/>
              </a:ext>
            </a:extLst>
          </p:cNvPr>
          <p:cNvSpPr txBox="1"/>
          <p:nvPr/>
        </p:nvSpPr>
        <p:spPr>
          <a:xfrm>
            <a:off x="3661029" y="2104753"/>
            <a:ext cx="34977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2400" dirty="0"/>
              <a:t>+</a:t>
            </a:r>
            <a:endParaRPr lang="fr-BE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C15223-74CD-CD38-2CF4-C76F1B9805EC}"/>
              </a:ext>
            </a:extLst>
          </p:cNvPr>
          <p:cNvSpPr txBox="1"/>
          <p:nvPr/>
        </p:nvSpPr>
        <p:spPr>
          <a:xfrm>
            <a:off x="6118027" y="2104753"/>
            <a:ext cx="34977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400" dirty="0"/>
              <a:t>+</a:t>
            </a:r>
            <a:endParaRPr lang="fr-BE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64C4F4-9491-625F-B17B-B82D253B1F16}"/>
              </a:ext>
            </a:extLst>
          </p:cNvPr>
          <p:cNvSpPr txBox="1"/>
          <p:nvPr/>
        </p:nvSpPr>
        <p:spPr>
          <a:xfrm>
            <a:off x="8395118" y="2104753"/>
            <a:ext cx="34977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400" dirty="0"/>
              <a:t>=</a:t>
            </a:r>
            <a:endParaRPr lang="fr-BE" sz="24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8F5E26-8608-0C1A-800C-B18CDB581A49}"/>
              </a:ext>
            </a:extLst>
          </p:cNvPr>
          <p:cNvSpPr/>
          <p:nvPr/>
        </p:nvSpPr>
        <p:spPr>
          <a:xfrm>
            <a:off x="8858062" y="1864097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User A</a:t>
            </a:r>
            <a:endParaRPr lang="fr-B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1706C2-A4E5-FAF6-0872-63458D726F97}"/>
              </a:ext>
            </a:extLst>
          </p:cNvPr>
          <p:cNvSpPr txBox="1"/>
          <p:nvPr/>
        </p:nvSpPr>
        <p:spPr>
          <a:xfrm>
            <a:off x="164593" y="3642703"/>
            <a:ext cx="187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User B </a:t>
            </a:r>
            <a:r>
              <a:rPr lang="fr-FR" dirty="0" err="1"/>
              <a:t>features</a:t>
            </a:r>
            <a:r>
              <a:rPr lang="fr-FR" dirty="0"/>
              <a:t>: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5D6A60-1DDC-0BA2-5918-DD2D28986BE7}"/>
              </a:ext>
            </a:extLst>
          </p:cNvPr>
          <p:cNvSpPr txBox="1"/>
          <p:nvPr/>
        </p:nvSpPr>
        <p:spPr>
          <a:xfrm>
            <a:off x="4873907" y="3596537"/>
            <a:ext cx="34977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400" dirty="0"/>
              <a:t>+</a:t>
            </a:r>
            <a:endParaRPr lang="fr-BE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DEBB54-148E-42E4-0B51-580C614D87AB}"/>
              </a:ext>
            </a:extLst>
          </p:cNvPr>
          <p:cNvSpPr txBox="1"/>
          <p:nvPr/>
        </p:nvSpPr>
        <p:spPr>
          <a:xfrm>
            <a:off x="8395118" y="3596537"/>
            <a:ext cx="34977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400" dirty="0"/>
              <a:t>=</a:t>
            </a:r>
            <a:endParaRPr lang="fr-BE" sz="2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AE0554-6C5F-957A-0A9E-F0108EF52B8E}"/>
              </a:ext>
            </a:extLst>
          </p:cNvPr>
          <p:cNvSpPr/>
          <p:nvPr/>
        </p:nvSpPr>
        <p:spPr>
          <a:xfrm>
            <a:off x="8858062" y="3355881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User B</a:t>
            </a:r>
            <a:endParaRPr lang="fr-B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192059-D9BF-C120-7F5C-7546B6B082EB}"/>
              </a:ext>
            </a:extLst>
          </p:cNvPr>
          <p:cNvSpPr txBox="1"/>
          <p:nvPr/>
        </p:nvSpPr>
        <p:spPr>
          <a:xfrm>
            <a:off x="164593" y="5134487"/>
            <a:ext cx="187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User C </a:t>
            </a:r>
            <a:r>
              <a:rPr lang="fr-FR" dirty="0" err="1"/>
              <a:t>features</a:t>
            </a:r>
            <a:r>
              <a:rPr lang="fr-FR" dirty="0"/>
              <a:t>: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327453-A843-0EB3-A32A-21C8EF526F2F}"/>
              </a:ext>
            </a:extLst>
          </p:cNvPr>
          <p:cNvSpPr txBox="1"/>
          <p:nvPr/>
        </p:nvSpPr>
        <p:spPr>
          <a:xfrm>
            <a:off x="3248171" y="5088321"/>
            <a:ext cx="34977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400" dirty="0"/>
              <a:t>+</a:t>
            </a:r>
            <a:endParaRPr lang="fr-BE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C146B0-1A6B-A19E-8DF9-F9619B0E7E07}"/>
              </a:ext>
            </a:extLst>
          </p:cNvPr>
          <p:cNvSpPr txBox="1"/>
          <p:nvPr/>
        </p:nvSpPr>
        <p:spPr>
          <a:xfrm>
            <a:off x="4873907" y="5088321"/>
            <a:ext cx="34977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400" dirty="0"/>
              <a:t>+</a:t>
            </a:r>
            <a:endParaRPr lang="fr-BE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EAAD29-429C-EDF8-A6E2-BE2C18122DC3}"/>
              </a:ext>
            </a:extLst>
          </p:cNvPr>
          <p:cNvSpPr txBox="1"/>
          <p:nvPr/>
        </p:nvSpPr>
        <p:spPr>
          <a:xfrm>
            <a:off x="8395118" y="5088321"/>
            <a:ext cx="34977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400" dirty="0"/>
              <a:t>=</a:t>
            </a:r>
            <a:endParaRPr lang="fr-BE" sz="24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8D03E2F-179E-AAF1-3C85-86B96337CCCE}"/>
              </a:ext>
            </a:extLst>
          </p:cNvPr>
          <p:cNvSpPr/>
          <p:nvPr/>
        </p:nvSpPr>
        <p:spPr>
          <a:xfrm>
            <a:off x="8858062" y="4847665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User C</a:t>
            </a:r>
            <a:endParaRPr lang="fr-B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71EFC3-33EA-D38C-49ED-77A78CCBA9D4}"/>
              </a:ext>
            </a:extLst>
          </p:cNvPr>
          <p:cNvSpPr txBox="1"/>
          <p:nvPr/>
        </p:nvSpPr>
        <p:spPr>
          <a:xfrm>
            <a:off x="6535655" y="5088321"/>
            <a:ext cx="34977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400" dirty="0"/>
              <a:t>+</a:t>
            </a:r>
            <a:endParaRPr lang="fr-BE" sz="2400" dirty="0"/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2C9A7D8F-D043-DD99-C234-93E06A1AE068}"/>
              </a:ext>
            </a:extLst>
          </p:cNvPr>
          <p:cNvSpPr/>
          <p:nvPr/>
        </p:nvSpPr>
        <p:spPr>
          <a:xfrm flipH="1">
            <a:off x="10040179" y="1864096"/>
            <a:ext cx="352034" cy="3926543"/>
          </a:xfrm>
          <a:prstGeom prst="leftBrac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D8DEBE-E931-74EB-6E78-D07AF2150552}"/>
              </a:ext>
            </a:extLst>
          </p:cNvPr>
          <p:cNvSpPr txBox="1"/>
          <p:nvPr/>
        </p:nvSpPr>
        <p:spPr>
          <a:xfrm>
            <a:off x="10539995" y="3642703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Batch 1</a:t>
            </a:r>
          </a:p>
        </p:txBody>
      </p:sp>
    </p:spTree>
    <p:extLst>
      <p:ext uri="{BB962C8B-B14F-4D97-AF65-F5344CB8AC3E}">
        <p14:creationId xmlns:p14="http://schemas.microsoft.com/office/powerpoint/2010/main" val="2363719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EB702-E1EC-9FFF-EA97-04FF6928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D7094E-5D38-0EEF-0FF1-F475F807A40F}"/>
              </a:ext>
            </a:extLst>
          </p:cNvPr>
          <p:cNvSpPr txBox="1"/>
          <p:nvPr/>
        </p:nvSpPr>
        <p:spPr>
          <a:xfrm>
            <a:off x="164592" y="128016"/>
            <a:ext cx="8045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Computing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endParaRPr lang="fr-FR" sz="3200" b="1" u="sng" dirty="0">
              <a:solidFill>
                <a:schemeClr val="bg2">
                  <a:lumMod val="60000"/>
                  <a:lumOff val="4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C471AC-188C-0D9D-BE2C-08E45DB863F6}"/>
              </a:ext>
            </a:extLst>
          </p:cNvPr>
          <p:cNvSpPr txBox="1"/>
          <p:nvPr/>
        </p:nvSpPr>
        <p:spPr>
          <a:xfrm>
            <a:off x="164593" y="867417"/>
            <a:ext cx="11862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5. For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every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batch, checkpoint files are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created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C4A59BC-826E-6563-91F7-B24645F242C2}"/>
              </a:ext>
            </a:extLst>
          </p:cNvPr>
          <p:cNvSpPr/>
          <p:nvPr/>
        </p:nvSpPr>
        <p:spPr>
          <a:xfrm>
            <a:off x="397552" y="1864097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A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D5AD06B-0B2F-39C5-4D80-580EE98C7311}"/>
              </a:ext>
            </a:extLst>
          </p:cNvPr>
          <p:cNvSpPr/>
          <p:nvPr/>
        </p:nvSpPr>
        <p:spPr>
          <a:xfrm>
            <a:off x="1799787" y="1864096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B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8157907-6BD7-967B-2311-E0F840FC68A3}"/>
              </a:ext>
            </a:extLst>
          </p:cNvPr>
          <p:cNvSpPr/>
          <p:nvPr/>
        </p:nvSpPr>
        <p:spPr>
          <a:xfrm>
            <a:off x="3202022" y="1864096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C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918A941D-FDE1-E74D-C685-023A348C0904}"/>
              </a:ext>
            </a:extLst>
          </p:cNvPr>
          <p:cNvSpPr/>
          <p:nvPr/>
        </p:nvSpPr>
        <p:spPr>
          <a:xfrm flipH="1">
            <a:off x="10040179" y="1864096"/>
            <a:ext cx="352034" cy="942975"/>
          </a:xfrm>
          <a:prstGeom prst="leftBrac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FA8BDC-AABC-FE95-CDEB-D8F3AB654C98}"/>
              </a:ext>
            </a:extLst>
          </p:cNvPr>
          <p:cNvSpPr txBox="1"/>
          <p:nvPr/>
        </p:nvSpPr>
        <p:spPr>
          <a:xfrm>
            <a:off x="10539995" y="2150917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Batch 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9B81E4-C03A-F03A-9AA7-3BFF3AA1A37B}"/>
              </a:ext>
            </a:extLst>
          </p:cNvPr>
          <p:cNvSpPr/>
          <p:nvPr/>
        </p:nvSpPr>
        <p:spPr>
          <a:xfrm>
            <a:off x="4604257" y="1864096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D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8FD38B1-5A5F-34BA-02D9-9DD871AAD145}"/>
              </a:ext>
            </a:extLst>
          </p:cNvPr>
          <p:cNvSpPr/>
          <p:nvPr/>
        </p:nvSpPr>
        <p:spPr>
          <a:xfrm>
            <a:off x="6006492" y="1864096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E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D26537-ECA4-469C-5140-604A1430F022}"/>
              </a:ext>
            </a:extLst>
          </p:cNvPr>
          <p:cNvSpPr/>
          <p:nvPr/>
        </p:nvSpPr>
        <p:spPr>
          <a:xfrm>
            <a:off x="7408727" y="1864096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F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CCC38D-F25E-4AC9-4A1B-B9F87D806D03}"/>
              </a:ext>
            </a:extLst>
          </p:cNvPr>
          <p:cNvSpPr/>
          <p:nvPr/>
        </p:nvSpPr>
        <p:spPr>
          <a:xfrm>
            <a:off x="397552" y="3409329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G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A4C254-F213-E8FC-7668-286EA732EC1A}"/>
              </a:ext>
            </a:extLst>
          </p:cNvPr>
          <p:cNvSpPr/>
          <p:nvPr/>
        </p:nvSpPr>
        <p:spPr>
          <a:xfrm>
            <a:off x="1799787" y="3409328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H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813D03-BEBE-E63B-4884-6DBB95947F05}"/>
              </a:ext>
            </a:extLst>
          </p:cNvPr>
          <p:cNvSpPr/>
          <p:nvPr/>
        </p:nvSpPr>
        <p:spPr>
          <a:xfrm>
            <a:off x="3202022" y="3409328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I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69D0959-3F5C-599B-19F2-B80EC3E9EEE9}"/>
              </a:ext>
            </a:extLst>
          </p:cNvPr>
          <p:cNvSpPr/>
          <p:nvPr/>
        </p:nvSpPr>
        <p:spPr>
          <a:xfrm>
            <a:off x="4604257" y="340932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J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0597A18-4B3D-EA52-A18A-2161F3BB41E5}"/>
              </a:ext>
            </a:extLst>
          </p:cNvPr>
          <p:cNvSpPr/>
          <p:nvPr/>
        </p:nvSpPr>
        <p:spPr>
          <a:xfrm>
            <a:off x="6006492" y="340932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K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2405D6-251D-7C37-448E-90927F2F62D7}"/>
              </a:ext>
            </a:extLst>
          </p:cNvPr>
          <p:cNvSpPr/>
          <p:nvPr/>
        </p:nvSpPr>
        <p:spPr>
          <a:xfrm>
            <a:off x="7408727" y="340932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L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BB55CFB-18DC-DD53-77B1-9D0AFB9B748B}"/>
              </a:ext>
            </a:extLst>
          </p:cNvPr>
          <p:cNvSpPr/>
          <p:nvPr/>
        </p:nvSpPr>
        <p:spPr>
          <a:xfrm>
            <a:off x="397552" y="4954559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M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3BE25EB-B70D-32B9-D457-2B54DC3E17B0}"/>
              </a:ext>
            </a:extLst>
          </p:cNvPr>
          <p:cNvSpPr/>
          <p:nvPr/>
        </p:nvSpPr>
        <p:spPr>
          <a:xfrm>
            <a:off x="1799787" y="4954558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N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E30E8E-66CC-6FDF-4171-4C84F4F59E6B}"/>
              </a:ext>
            </a:extLst>
          </p:cNvPr>
          <p:cNvSpPr/>
          <p:nvPr/>
        </p:nvSpPr>
        <p:spPr>
          <a:xfrm>
            <a:off x="3202022" y="4954558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O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76717BF-AD3C-BC9B-980B-09978803AE07}"/>
              </a:ext>
            </a:extLst>
          </p:cNvPr>
          <p:cNvSpPr/>
          <p:nvPr/>
        </p:nvSpPr>
        <p:spPr>
          <a:xfrm>
            <a:off x="4604257" y="495455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P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873924-4089-8509-1C8B-C821A2688A88}"/>
              </a:ext>
            </a:extLst>
          </p:cNvPr>
          <p:cNvSpPr/>
          <p:nvPr/>
        </p:nvSpPr>
        <p:spPr>
          <a:xfrm>
            <a:off x="6006492" y="495455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Q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BCFB7FF-0374-6A0A-CDAB-FA2796F46A33}"/>
              </a:ext>
            </a:extLst>
          </p:cNvPr>
          <p:cNvSpPr/>
          <p:nvPr/>
        </p:nvSpPr>
        <p:spPr>
          <a:xfrm>
            <a:off x="7408727" y="495455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R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5EA7BE-F6F6-257C-F16F-8AE1EB66A841}"/>
              </a:ext>
            </a:extLst>
          </p:cNvPr>
          <p:cNvSpPr txBox="1"/>
          <p:nvPr/>
        </p:nvSpPr>
        <p:spPr>
          <a:xfrm>
            <a:off x="8571954" y="1976150"/>
            <a:ext cx="478016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800" dirty="0"/>
              <a:t>…</a:t>
            </a:r>
            <a:endParaRPr lang="fr-BE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9C627B-9DCC-8BB9-83F4-E5D0DF02DDCA}"/>
              </a:ext>
            </a:extLst>
          </p:cNvPr>
          <p:cNvSpPr txBox="1"/>
          <p:nvPr/>
        </p:nvSpPr>
        <p:spPr>
          <a:xfrm>
            <a:off x="8571954" y="3488815"/>
            <a:ext cx="478016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800" dirty="0"/>
              <a:t>…</a:t>
            </a:r>
            <a:endParaRPr lang="fr-BE" sz="2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6846C1-8C05-3404-EDB1-FEF7F288B2D9}"/>
              </a:ext>
            </a:extLst>
          </p:cNvPr>
          <p:cNvSpPr txBox="1"/>
          <p:nvPr/>
        </p:nvSpPr>
        <p:spPr>
          <a:xfrm>
            <a:off x="8571954" y="5004933"/>
            <a:ext cx="478016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2800" dirty="0"/>
              <a:t>…</a:t>
            </a:r>
            <a:endParaRPr lang="fr-BE" sz="2800" dirty="0"/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0C121048-0774-D9B8-4932-148DDCA16B11}"/>
              </a:ext>
            </a:extLst>
          </p:cNvPr>
          <p:cNvSpPr/>
          <p:nvPr/>
        </p:nvSpPr>
        <p:spPr>
          <a:xfrm flipH="1">
            <a:off x="10040179" y="3409328"/>
            <a:ext cx="352034" cy="942975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092CD9-35FE-39EE-5152-3F7CE2F8ED20}"/>
              </a:ext>
            </a:extLst>
          </p:cNvPr>
          <p:cNvSpPr txBox="1"/>
          <p:nvPr/>
        </p:nvSpPr>
        <p:spPr>
          <a:xfrm>
            <a:off x="10539995" y="3696149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Batch 2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CE6DBD7A-41EF-DBED-494B-2FB45F357E5F}"/>
              </a:ext>
            </a:extLst>
          </p:cNvPr>
          <p:cNvSpPr/>
          <p:nvPr/>
        </p:nvSpPr>
        <p:spPr>
          <a:xfrm flipH="1">
            <a:off x="10040179" y="4954558"/>
            <a:ext cx="352034" cy="942975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B231E5-1C46-4A05-A337-CB45AD266D61}"/>
              </a:ext>
            </a:extLst>
          </p:cNvPr>
          <p:cNvSpPr txBox="1"/>
          <p:nvPr/>
        </p:nvSpPr>
        <p:spPr>
          <a:xfrm>
            <a:off x="10539995" y="5241379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Batch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9B988-9E10-31E2-B4A5-08D25C69E0CB}"/>
              </a:ext>
            </a:extLst>
          </p:cNvPr>
          <p:cNvSpPr txBox="1"/>
          <p:nvPr/>
        </p:nvSpPr>
        <p:spPr>
          <a:xfrm>
            <a:off x="3022809" y="6279138"/>
            <a:ext cx="6146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(The batch size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defined</a:t>
            </a:r>
            <a:r>
              <a:rPr lang="fr-FR" dirty="0"/>
              <a:t> by us, for </a:t>
            </a:r>
            <a:r>
              <a:rPr lang="fr-FR" dirty="0" err="1"/>
              <a:t>example</a:t>
            </a:r>
            <a:r>
              <a:rPr lang="fr-FR" dirty="0"/>
              <a:t> 1000 </a:t>
            </a:r>
            <a:r>
              <a:rPr lang="fr-FR" dirty="0" err="1"/>
              <a:t>users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7236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BB18-35D9-9112-D563-6F1B140D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4407F0-A048-E215-6AF4-EEE79B91DBE3}"/>
              </a:ext>
            </a:extLst>
          </p:cNvPr>
          <p:cNvSpPr txBox="1"/>
          <p:nvPr/>
        </p:nvSpPr>
        <p:spPr>
          <a:xfrm>
            <a:off x="164592" y="128016"/>
            <a:ext cx="8045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Computing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endParaRPr lang="fr-FR" sz="3200" b="1" u="sng" dirty="0">
              <a:solidFill>
                <a:schemeClr val="bg2">
                  <a:lumMod val="60000"/>
                  <a:lumOff val="4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C228D6-A28C-5F8B-94F1-2943C68EDF45}"/>
              </a:ext>
            </a:extLst>
          </p:cNvPr>
          <p:cNvSpPr txBox="1"/>
          <p:nvPr/>
        </p:nvSpPr>
        <p:spPr>
          <a:xfrm>
            <a:off x="164593" y="867417"/>
            <a:ext cx="11862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5. For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every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batch, checkpoint files are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created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E6D876-FF87-0550-183E-5ADF722D9952}"/>
              </a:ext>
            </a:extLst>
          </p:cNvPr>
          <p:cNvSpPr/>
          <p:nvPr/>
        </p:nvSpPr>
        <p:spPr>
          <a:xfrm>
            <a:off x="397552" y="1864097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A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C453302-BE81-5FFF-A864-E1A7AF42C29D}"/>
              </a:ext>
            </a:extLst>
          </p:cNvPr>
          <p:cNvSpPr/>
          <p:nvPr/>
        </p:nvSpPr>
        <p:spPr>
          <a:xfrm>
            <a:off x="609903" y="1864096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B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17D113D-E37D-2BD1-D8FC-38BF09337E4D}"/>
              </a:ext>
            </a:extLst>
          </p:cNvPr>
          <p:cNvSpPr/>
          <p:nvPr/>
        </p:nvSpPr>
        <p:spPr>
          <a:xfrm>
            <a:off x="869039" y="1864096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C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FF0844B8-4033-5060-BB96-A4CD36E379BB}"/>
              </a:ext>
            </a:extLst>
          </p:cNvPr>
          <p:cNvSpPr/>
          <p:nvPr/>
        </p:nvSpPr>
        <p:spPr>
          <a:xfrm flipH="1">
            <a:off x="10040179" y="1864096"/>
            <a:ext cx="352034" cy="942975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C32F6D-19A6-59BD-FD6A-A0B3D0DC67D2}"/>
              </a:ext>
            </a:extLst>
          </p:cNvPr>
          <p:cNvSpPr txBox="1"/>
          <p:nvPr/>
        </p:nvSpPr>
        <p:spPr>
          <a:xfrm>
            <a:off x="10539995" y="2150917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Batch 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3647CB-B388-BAC8-EECC-2BA1F1962410}"/>
              </a:ext>
            </a:extLst>
          </p:cNvPr>
          <p:cNvSpPr/>
          <p:nvPr/>
        </p:nvSpPr>
        <p:spPr>
          <a:xfrm>
            <a:off x="1109224" y="1864096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D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4B4E2F-63F8-446D-0B74-E1B45930202B}"/>
              </a:ext>
            </a:extLst>
          </p:cNvPr>
          <p:cNvSpPr/>
          <p:nvPr/>
        </p:nvSpPr>
        <p:spPr>
          <a:xfrm>
            <a:off x="1368360" y="1864096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E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F2A9CA9-28BB-05B4-634A-2F6CAF020FF2}"/>
              </a:ext>
            </a:extLst>
          </p:cNvPr>
          <p:cNvSpPr/>
          <p:nvPr/>
        </p:nvSpPr>
        <p:spPr>
          <a:xfrm>
            <a:off x="1654603" y="1864096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F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EAFAA2-E954-7E1C-259D-08B8356B4F89}"/>
              </a:ext>
            </a:extLst>
          </p:cNvPr>
          <p:cNvSpPr/>
          <p:nvPr/>
        </p:nvSpPr>
        <p:spPr>
          <a:xfrm>
            <a:off x="397552" y="3409329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G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53CCAA8-AD59-36B9-D4E7-EBF092E1BB0C}"/>
              </a:ext>
            </a:extLst>
          </p:cNvPr>
          <p:cNvSpPr/>
          <p:nvPr/>
        </p:nvSpPr>
        <p:spPr>
          <a:xfrm>
            <a:off x="609903" y="3409328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H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BB5F4A-EB18-B73A-C799-72F366995FF1}"/>
              </a:ext>
            </a:extLst>
          </p:cNvPr>
          <p:cNvSpPr/>
          <p:nvPr/>
        </p:nvSpPr>
        <p:spPr>
          <a:xfrm>
            <a:off x="869039" y="3409328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I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A27E105-6046-749F-969C-8B34B30C9EDE}"/>
              </a:ext>
            </a:extLst>
          </p:cNvPr>
          <p:cNvSpPr/>
          <p:nvPr/>
        </p:nvSpPr>
        <p:spPr>
          <a:xfrm>
            <a:off x="1109224" y="340932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J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1203B3-2C28-776F-C180-F0FD7720EB52}"/>
              </a:ext>
            </a:extLst>
          </p:cNvPr>
          <p:cNvSpPr/>
          <p:nvPr/>
        </p:nvSpPr>
        <p:spPr>
          <a:xfrm>
            <a:off x="1368360" y="340932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K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35AB5A-7274-42EA-F4E3-1FE0A5859B07}"/>
              </a:ext>
            </a:extLst>
          </p:cNvPr>
          <p:cNvSpPr/>
          <p:nvPr/>
        </p:nvSpPr>
        <p:spPr>
          <a:xfrm>
            <a:off x="1654603" y="340932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L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B8F82FA-2C32-0B25-1A9C-1D4578620DB1}"/>
              </a:ext>
            </a:extLst>
          </p:cNvPr>
          <p:cNvSpPr/>
          <p:nvPr/>
        </p:nvSpPr>
        <p:spPr>
          <a:xfrm>
            <a:off x="397552" y="4954559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M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8AFE985-82D1-95F8-FDE1-EF9AC02397DE}"/>
              </a:ext>
            </a:extLst>
          </p:cNvPr>
          <p:cNvSpPr/>
          <p:nvPr/>
        </p:nvSpPr>
        <p:spPr>
          <a:xfrm>
            <a:off x="609903" y="4954558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N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0D53CB2-6649-4DDC-B1FE-3A04DA539438}"/>
              </a:ext>
            </a:extLst>
          </p:cNvPr>
          <p:cNvSpPr/>
          <p:nvPr/>
        </p:nvSpPr>
        <p:spPr>
          <a:xfrm>
            <a:off x="869039" y="4954558"/>
            <a:ext cx="942975" cy="9429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O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EB03E10-8BC6-3B9B-DADC-766C1C60E074}"/>
              </a:ext>
            </a:extLst>
          </p:cNvPr>
          <p:cNvSpPr/>
          <p:nvPr/>
        </p:nvSpPr>
        <p:spPr>
          <a:xfrm>
            <a:off x="1109224" y="495455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P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1CB5510-8DA8-C5B2-F266-4C2A2647B925}"/>
              </a:ext>
            </a:extLst>
          </p:cNvPr>
          <p:cNvSpPr/>
          <p:nvPr/>
        </p:nvSpPr>
        <p:spPr>
          <a:xfrm>
            <a:off x="1368360" y="495455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Q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29321FC-C329-D736-3D4D-BE01E8D5E94B}"/>
              </a:ext>
            </a:extLst>
          </p:cNvPr>
          <p:cNvSpPr/>
          <p:nvPr/>
        </p:nvSpPr>
        <p:spPr>
          <a:xfrm>
            <a:off x="1654603" y="4954558"/>
            <a:ext cx="942975" cy="94297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User R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4A0895D4-5DCD-887F-8433-54E4862B2CAA}"/>
              </a:ext>
            </a:extLst>
          </p:cNvPr>
          <p:cNvSpPr/>
          <p:nvPr/>
        </p:nvSpPr>
        <p:spPr>
          <a:xfrm flipH="1">
            <a:off x="10040179" y="3409328"/>
            <a:ext cx="352034" cy="942975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7ED7C4-108B-1127-68AA-5E1AE5CA2C2A}"/>
              </a:ext>
            </a:extLst>
          </p:cNvPr>
          <p:cNvSpPr txBox="1"/>
          <p:nvPr/>
        </p:nvSpPr>
        <p:spPr>
          <a:xfrm>
            <a:off x="10539995" y="3696149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Batch 2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6D1BDCFC-FDFD-B3A0-80A9-62C4948B2301}"/>
              </a:ext>
            </a:extLst>
          </p:cNvPr>
          <p:cNvSpPr/>
          <p:nvPr/>
        </p:nvSpPr>
        <p:spPr>
          <a:xfrm flipH="1">
            <a:off x="10040179" y="4954558"/>
            <a:ext cx="352034" cy="942975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845E79-80E0-447E-6207-B6DE543A8D4D}"/>
              </a:ext>
            </a:extLst>
          </p:cNvPr>
          <p:cNvSpPr txBox="1"/>
          <p:nvPr/>
        </p:nvSpPr>
        <p:spPr>
          <a:xfrm>
            <a:off x="10539995" y="5241379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Batch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5DB33-A7E0-4C24-0BD3-FA63A638AA0F}"/>
              </a:ext>
            </a:extLst>
          </p:cNvPr>
          <p:cNvSpPr txBox="1"/>
          <p:nvPr/>
        </p:nvSpPr>
        <p:spPr>
          <a:xfrm>
            <a:off x="3022809" y="6279138"/>
            <a:ext cx="6146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(The batch size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defined</a:t>
            </a:r>
            <a:r>
              <a:rPr lang="fr-FR" dirty="0"/>
              <a:t> by us, for </a:t>
            </a:r>
            <a:r>
              <a:rPr lang="fr-FR" dirty="0" err="1"/>
              <a:t>example</a:t>
            </a:r>
            <a:r>
              <a:rPr lang="fr-FR" dirty="0"/>
              <a:t> 1000 </a:t>
            </a:r>
            <a:r>
              <a:rPr lang="fr-FR" dirty="0" err="1"/>
              <a:t>users</a:t>
            </a:r>
            <a:r>
              <a:rPr lang="fr-FR" dirty="0"/>
              <a:t>)</a:t>
            </a:r>
          </a:p>
        </p:txBody>
      </p:sp>
      <p:pic>
        <p:nvPicPr>
          <p:cNvPr id="63" name="Picture 4">
            <a:extLst>
              <a:ext uri="{FF2B5EF4-FFF2-40B4-BE49-F238E27FC236}">
                <a16:creationId xmlns:a16="http://schemas.microsoft.com/office/drawing/2014/main" id="{6E6A0E4D-0B94-D051-0E6A-CC6B87DF4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02494" y="1649450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4" name="Picture 4">
            <a:extLst>
              <a:ext uri="{FF2B5EF4-FFF2-40B4-BE49-F238E27FC236}">
                <a16:creationId xmlns:a16="http://schemas.microsoft.com/office/drawing/2014/main" id="{9DAA6D23-088F-2FA2-D19D-98B6482FC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13734" y="1649450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5" name="Picture 4">
            <a:extLst>
              <a:ext uri="{FF2B5EF4-FFF2-40B4-BE49-F238E27FC236}">
                <a16:creationId xmlns:a16="http://schemas.microsoft.com/office/drawing/2014/main" id="{EA93B658-5DEB-1D2F-372B-B4AF5FC49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24974" y="1649450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6" name="Picture 4">
            <a:extLst>
              <a:ext uri="{FF2B5EF4-FFF2-40B4-BE49-F238E27FC236}">
                <a16:creationId xmlns:a16="http://schemas.microsoft.com/office/drawing/2014/main" id="{FBB30CB2-7FC5-08FC-17DE-9B92EF892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16745" y="1649450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7" name="Picture 4">
            <a:extLst>
              <a:ext uri="{FF2B5EF4-FFF2-40B4-BE49-F238E27FC236}">
                <a16:creationId xmlns:a16="http://schemas.microsoft.com/office/drawing/2014/main" id="{5810088B-387F-2DE9-D9CA-3E41D3B9B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78365" y="1648233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8" name="Picture 4">
            <a:extLst>
              <a:ext uri="{FF2B5EF4-FFF2-40B4-BE49-F238E27FC236}">
                <a16:creationId xmlns:a16="http://schemas.microsoft.com/office/drawing/2014/main" id="{B05BD15B-05F6-EC2B-7DA1-C3DDB8A08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02494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9" name="Picture 4">
            <a:extLst>
              <a:ext uri="{FF2B5EF4-FFF2-40B4-BE49-F238E27FC236}">
                <a16:creationId xmlns:a16="http://schemas.microsoft.com/office/drawing/2014/main" id="{EB6B1AD2-C338-E57A-7F70-526ABD2CF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13734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0" name="Picture 4">
            <a:extLst>
              <a:ext uri="{FF2B5EF4-FFF2-40B4-BE49-F238E27FC236}">
                <a16:creationId xmlns:a16="http://schemas.microsoft.com/office/drawing/2014/main" id="{33A481FF-E7C3-20D0-F015-E7F58961C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24974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1" name="Picture 4">
            <a:extLst>
              <a:ext uri="{FF2B5EF4-FFF2-40B4-BE49-F238E27FC236}">
                <a16:creationId xmlns:a16="http://schemas.microsoft.com/office/drawing/2014/main" id="{4BFAE31E-42DB-062E-2A39-E378E626C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16745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2" name="Picture 4">
            <a:extLst>
              <a:ext uri="{FF2B5EF4-FFF2-40B4-BE49-F238E27FC236}">
                <a16:creationId xmlns:a16="http://schemas.microsoft.com/office/drawing/2014/main" id="{1589F9E4-56E5-E3B8-02D5-0704BF42D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78365" y="3188678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3" name="Picture 4">
            <a:extLst>
              <a:ext uri="{FF2B5EF4-FFF2-40B4-BE49-F238E27FC236}">
                <a16:creationId xmlns:a16="http://schemas.microsoft.com/office/drawing/2014/main" id="{0C3C5A60-CD54-49A2-36F8-723BBDA2B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02494" y="473512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4" name="Picture 4">
            <a:extLst>
              <a:ext uri="{FF2B5EF4-FFF2-40B4-BE49-F238E27FC236}">
                <a16:creationId xmlns:a16="http://schemas.microsoft.com/office/drawing/2014/main" id="{A133021D-E7CA-6D8D-A6E0-CBB2A7750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13734" y="473512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5" name="Picture 4">
            <a:extLst>
              <a:ext uri="{FF2B5EF4-FFF2-40B4-BE49-F238E27FC236}">
                <a16:creationId xmlns:a16="http://schemas.microsoft.com/office/drawing/2014/main" id="{FFB7CC2B-4571-C2FE-207B-F3CF12FF8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24974" y="473512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6" name="Picture 4">
            <a:extLst>
              <a:ext uri="{FF2B5EF4-FFF2-40B4-BE49-F238E27FC236}">
                <a16:creationId xmlns:a16="http://schemas.microsoft.com/office/drawing/2014/main" id="{8257782E-8F13-F318-17A8-7F70A41A4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16745" y="473512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7" name="Picture 4">
            <a:extLst>
              <a:ext uri="{FF2B5EF4-FFF2-40B4-BE49-F238E27FC236}">
                <a16:creationId xmlns:a16="http://schemas.microsoft.com/office/drawing/2014/main" id="{B8F13D74-AFDB-2F7E-521F-44D7C4A9D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78365" y="4733908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A8614A1-FC1C-3C3E-09DF-EC3144E2D250}"/>
              </a:ext>
            </a:extLst>
          </p:cNvPr>
          <p:cNvCxnSpPr/>
          <p:nvPr/>
        </p:nvCxnSpPr>
        <p:spPr>
          <a:xfrm>
            <a:off x="2944089" y="2311689"/>
            <a:ext cx="72967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68D8FE3-EA43-C07F-B98F-96B10D57AEE8}"/>
              </a:ext>
            </a:extLst>
          </p:cNvPr>
          <p:cNvCxnSpPr/>
          <p:nvPr/>
        </p:nvCxnSpPr>
        <p:spPr>
          <a:xfrm>
            <a:off x="2944089" y="3883314"/>
            <a:ext cx="72967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65D252A-C111-1244-A867-37E8051EC84D}"/>
              </a:ext>
            </a:extLst>
          </p:cNvPr>
          <p:cNvCxnSpPr/>
          <p:nvPr/>
        </p:nvCxnSpPr>
        <p:spPr>
          <a:xfrm>
            <a:off x="2944089" y="5435889"/>
            <a:ext cx="72967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204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D1DA5-6AF9-96CE-A959-C746B5F7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A63B7D-7093-4E52-5ED5-8B84F0AE6DAF}"/>
              </a:ext>
            </a:extLst>
          </p:cNvPr>
          <p:cNvSpPr txBox="1"/>
          <p:nvPr/>
        </p:nvSpPr>
        <p:spPr>
          <a:xfrm>
            <a:off x="164592" y="128016"/>
            <a:ext cx="8045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Computing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endParaRPr lang="fr-FR" sz="3200" b="1" u="sng" dirty="0">
              <a:solidFill>
                <a:schemeClr val="bg2">
                  <a:lumMod val="60000"/>
                  <a:lumOff val="4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2A284B-5B25-C221-9565-0D6BBAF90F72}"/>
              </a:ext>
            </a:extLst>
          </p:cNvPr>
          <p:cNvSpPr txBox="1"/>
          <p:nvPr/>
        </p:nvSpPr>
        <p:spPr>
          <a:xfrm>
            <a:off x="164593" y="867417"/>
            <a:ext cx="11862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5. For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every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batch, checkpoint files are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created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9305FC52-689F-7A60-3886-3140C6060F17}"/>
              </a:ext>
            </a:extLst>
          </p:cNvPr>
          <p:cNvSpPr/>
          <p:nvPr/>
        </p:nvSpPr>
        <p:spPr>
          <a:xfrm flipH="1">
            <a:off x="10040179" y="1864096"/>
            <a:ext cx="352034" cy="942975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14A1F0-1BDD-39B3-EF5C-C1B1AC7E0872}"/>
              </a:ext>
            </a:extLst>
          </p:cNvPr>
          <p:cNvSpPr txBox="1"/>
          <p:nvPr/>
        </p:nvSpPr>
        <p:spPr>
          <a:xfrm>
            <a:off x="10539995" y="2150917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Batch 1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D6D2244F-EBEE-C2D5-9679-2AE749E8F556}"/>
              </a:ext>
            </a:extLst>
          </p:cNvPr>
          <p:cNvSpPr/>
          <p:nvPr/>
        </p:nvSpPr>
        <p:spPr>
          <a:xfrm flipH="1">
            <a:off x="10040179" y="3409328"/>
            <a:ext cx="352034" cy="942975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043A6B-F5F3-4215-ED7F-809A2F464FA8}"/>
              </a:ext>
            </a:extLst>
          </p:cNvPr>
          <p:cNvSpPr txBox="1"/>
          <p:nvPr/>
        </p:nvSpPr>
        <p:spPr>
          <a:xfrm>
            <a:off x="10539995" y="3696149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Batch 2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9043168C-3424-819A-8CD7-4122935EAB27}"/>
              </a:ext>
            </a:extLst>
          </p:cNvPr>
          <p:cNvSpPr/>
          <p:nvPr/>
        </p:nvSpPr>
        <p:spPr>
          <a:xfrm flipH="1">
            <a:off x="10040179" y="4954558"/>
            <a:ext cx="352034" cy="942975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972356-D3E6-2475-CD1C-5B75D65C1BA4}"/>
              </a:ext>
            </a:extLst>
          </p:cNvPr>
          <p:cNvSpPr txBox="1"/>
          <p:nvPr/>
        </p:nvSpPr>
        <p:spPr>
          <a:xfrm>
            <a:off x="10539995" y="5241379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Batch 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D3500D-06DB-4A62-CBE1-8F0A7D5F3D7F}"/>
              </a:ext>
            </a:extLst>
          </p:cNvPr>
          <p:cNvSpPr txBox="1"/>
          <p:nvPr/>
        </p:nvSpPr>
        <p:spPr>
          <a:xfrm>
            <a:off x="3022809" y="6279138"/>
            <a:ext cx="6146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(The batch size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defined</a:t>
            </a:r>
            <a:r>
              <a:rPr lang="fr-FR" dirty="0"/>
              <a:t> by us, for </a:t>
            </a:r>
            <a:r>
              <a:rPr lang="fr-FR" dirty="0" err="1"/>
              <a:t>example</a:t>
            </a:r>
            <a:r>
              <a:rPr lang="fr-FR" dirty="0"/>
              <a:t> 1000 </a:t>
            </a:r>
            <a:r>
              <a:rPr lang="fr-FR" dirty="0" err="1"/>
              <a:t>users</a:t>
            </a:r>
            <a:r>
              <a:rPr lang="fr-FR" dirty="0"/>
              <a:t>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C0316E4-479E-3696-538A-5B758832D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3436" y="1649450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5E7CF8E-54BF-9F25-90ED-78243129851B}"/>
              </a:ext>
            </a:extLst>
          </p:cNvPr>
          <p:cNvSpPr txBox="1"/>
          <p:nvPr/>
        </p:nvSpPr>
        <p:spPr>
          <a:xfrm>
            <a:off x="543339" y="2724729"/>
            <a:ext cx="1284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user_features</a:t>
            </a:r>
            <a:endParaRPr lang="fr-BE" sz="1400" dirty="0"/>
          </a:p>
        </p:txBody>
      </p:sp>
      <p:pic>
        <p:nvPicPr>
          <p:cNvPr id="62" name="Picture 4">
            <a:extLst>
              <a:ext uri="{FF2B5EF4-FFF2-40B4-BE49-F238E27FC236}">
                <a16:creationId xmlns:a16="http://schemas.microsoft.com/office/drawing/2014/main" id="{43086863-CB6C-A6DD-3DCF-9B46D39C7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40614" y="1649450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648DB62-173B-A1BD-B8C2-AED4F36D21B9}"/>
              </a:ext>
            </a:extLst>
          </p:cNvPr>
          <p:cNvSpPr txBox="1"/>
          <p:nvPr/>
        </p:nvSpPr>
        <p:spPr>
          <a:xfrm>
            <a:off x="2089350" y="2724729"/>
            <a:ext cx="146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edges_mention</a:t>
            </a:r>
            <a:endParaRPr lang="fr-BE" sz="1400" dirty="0"/>
          </a:p>
        </p:txBody>
      </p:sp>
      <p:pic>
        <p:nvPicPr>
          <p:cNvPr id="84" name="Picture 4">
            <a:extLst>
              <a:ext uri="{FF2B5EF4-FFF2-40B4-BE49-F238E27FC236}">
                <a16:creationId xmlns:a16="http://schemas.microsoft.com/office/drawing/2014/main" id="{177FF748-D3A0-9D76-6C52-45090CAE0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83631" y="1649450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6A5FCBC2-6BDF-2379-120C-B5B4397834D7}"/>
              </a:ext>
            </a:extLst>
          </p:cNvPr>
          <p:cNvSpPr txBox="1"/>
          <p:nvPr/>
        </p:nvSpPr>
        <p:spPr>
          <a:xfrm>
            <a:off x="3891983" y="2724729"/>
            <a:ext cx="1147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edges_reply</a:t>
            </a:r>
            <a:endParaRPr lang="fr-BE" sz="1400" dirty="0"/>
          </a:p>
        </p:txBody>
      </p:sp>
      <p:pic>
        <p:nvPicPr>
          <p:cNvPr id="87" name="Picture 4">
            <a:extLst>
              <a:ext uri="{FF2B5EF4-FFF2-40B4-BE49-F238E27FC236}">
                <a16:creationId xmlns:a16="http://schemas.microsoft.com/office/drawing/2014/main" id="{2D698AC7-80A8-5D73-6D6F-07B78DBA7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88047" y="1649450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DA05F4B8-B0A8-67ED-B545-F72178F3060F}"/>
              </a:ext>
            </a:extLst>
          </p:cNvPr>
          <p:cNvSpPr txBox="1"/>
          <p:nvPr/>
        </p:nvSpPr>
        <p:spPr>
          <a:xfrm>
            <a:off x="5513108" y="2724729"/>
            <a:ext cx="1314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edges_retweet</a:t>
            </a:r>
            <a:endParaRPr lang="fr-BE" sz="1400" dirty="0"/>
          </a:p>
        </p:txBody>
      </p:sp>
      <p:pic>
        <p:nvPicPr>
          <p:cNvPr id="90" name="Picture 4">
            <a:extLst>
              <a:ext uri="{FF2B5EF4-FFF2-40B4-BE49-F238E27FC236}">
                <a16:creationId xmlns:a16="http://schemas.microsoft.com/office/drawing/2014/main" id="{EC1F7F8A-2DF8-6B97-DD7B-25D671443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36588" y="1648233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51334700-3131-9C8A-9970-F272CF4E4B40}"/>
              </a:ext>
            </a:extLst>
          </p:cNvPr>
          <p:cNvSpPr txBox="1"/>
          <p:nvPr/>
        </p:nvSpPr>
        <p:spPr>
          <a:xfrm>
            <a:off x="6974968" y="2724729"/>
            <a:ext cx="168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Screen_name_map</a:t>
            </a:r>
            <a:endParaRPr lang="fr-BE" sz="1400" dirty="0"/>
          </a:p>
        </p:txBody>
      </p:sp>
      <p:pic>
        <p:nvPicPr>
          <p:cNvPr id="122" name="Picture 4">
            <a:extLst>
              <a:ext uri="{FF2B5EF4-FFF2-40B4-BE49-F238E27FC236}">
                <a16:creationId xmlns:a16="http://schemas.microsoft.com/office/drawing/2014/main" id="{2FB55696-5673-5555-9E68-0F002AE1D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3436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5E329FC2-6337-9E03-3FED-18F42EE6A850}"/>
              </a:ext>
            </a:extLst>
          </p:cNvPr>
          <p:cNvSpPr txBox="1"/>
          <p:nvPr/>
        </p:nvSpPr>
        <p:spPr>
          <a:xfrm>
            <a:off x="543339" y="4265174"/>
            <a:ext cx="1284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user_features</a:t>
            </a:r>
            <a:endParaRPr lang="fr-BE" sz="1400" dirty="0"/>
          </a:p>
        </p:txBody>
      </p:sp>
      <p:pic>
        <p:nvPicPr>
          <p:cNvPr id="120" name="Picture 4">
            <a:extLst>
              <a:ext uri="{FF2B5EF4-FFF2-40B4-BE49-F238E27FC236}">
                <a16:creationId xmlns:a16="http://schemas.microsoft.com/office/drawing/2014/main" id="{69A869B5-ADCB-809D-A92F-0D874D1BC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40614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5ABA0725-9C3D-11A2-5162-4FBEEE9260C5}"/>
              </a:ext>
            </a:extLst>
          </p:cNvPr>
          <p:cNvSpPr txBox="1"/>
          <p:nvPr/>
        </p:nvSpPr>
        <p:spPr>
          <a:xfrm>
            <a:off x="2089350" y="4265174"/>
            <a:ext cx="146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edges_mention</a:t>
            </a:r>
            <a:endParaRPr lang="fr-BE" sz="1400" dirty="0"/>
          </a:p>
        </p:txBody>
      </p:sp>
      <p:pic>
        <p:nvPicPr>
          <p:cNvPr id="118" name="Picture 4">
            <a:extLst>
              <a:ext uri="{FF2B5EF4-FFF2-40B4-BE49-F238E27FC236}">
                <a16:creationId xmlns:a16="http://schemas.microsoft.com/office/drawing/2014/main" id="{4C1DDC5B-1755-FF2B-B533-05A845966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83631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EDE0F6EE-1528-2464-15E4-7259C3BCC1C0}"/>
              </a:ext>
            </a:extLst>
          </p:cNvPr>
          <p:cNvSpPr txBox="1"/>
          <p:nvPr/>
        </p:nvSpPr>
        <p:spPr>
          <a:xfrm>
            <a:off x="3891983" y="4265174"/>
            <a:ext cx="1147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edges_reply</a:t>
            </a:r>
            <a:endParaRPr lang="fr-BE" sz="1400" dirty="0"/>
          </a:p>
        </p:txBody>
      </p:sp>
      <p:pic>
        <p:nvPicPr>
          <p:cNvPr id="116" name="Picture 4">
            <a:extLst>
              <a:ext uri="{FF2B5EF4-FFF2-40B4-BE49-F238E27FC236}">
                <a16:creationId xmlns:a16="http://schemas.microsoft.com/office/drawing/2014/main" id="{E157930D-0543-62BF-9870-1AA0C405A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88047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CA17FFE5-2049-1A87-4EA8-BF1D1B2034FB}"/>
              </a:ext>
            </a:extLst>
          </p:cNvPr>
          <p:cNvSpPr txBox="1"/>
          <p:nvPr/>
        </p:nvSpPr>
        <p:spPr>
          <a:xfrm>
            <a:off x="5513108" y="4265174"/>
            <a:ext cx="1314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edges_retweet</a:t>
            </a:r>
            <a:endParaRPr lang="fr-BE" sz="1400" dirty="0"/>
          </a:p>
        </p:txBody>
      </p:sp>
      <p:pic>
        <p:nvPicPr>
          <p:cNvPr id="114" name="Picture 4">
            <a:extLst>
              <a:ext uri="{FF2B5EF4-FFF2-40B4-BE49-F238E27FC236}">
                <a16:creationId xmlns:a16="http://schemas.microsoft.com/office/drawing/2014/main" id="{B3B460B3-812B-1736-3262-9EF61D3D7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36588" y="3188678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25E7F868-9463-F6E3-F36B-0D6847C7B57C}"/>
              </a:ext>
            </a:extLst>
          </p:cNvPr>
          <p:cNvSpPr txBox="1"/>
          <p:nvPr/>
        </p:nvSpPr>
        <p:spPr>
          <a:xfrm>
            <a:off x="6974968" y="4265174"/>
            <a:ext cx="168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Screen_name_map</a:t>
            </a:r>
            <a:endParaRPr lang="fr-BE" sz="1400" dirty="0"/>
          </a:p>
        </p:txBody>
      </p:sp>
      <p:pic>
        <p:nvPicPr>
          <p:cNvPr id="1037" name="Picture 4">
            <a:extLst>
              <a:ext uri="{FF2B5EF4-FFF2-40B4-BE49-F238E27FC236}">
                <a16:creationId xmlns:a16="http://schemas.microsoft.com/office/drawing/2014/main" id="{0C8CCF9B-4AF9-39E6-8AE0-379FD3E9F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3436" y="473512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8" name="TextBox 1037">
            <a:extLst>
              <a:ext uri="{FF2B5EF4-FFF2-40B4-BE49-F238E27FC236}">
                <a16:creationId xmlns:a16="http://schemas.microsoft.com/office/drawing/2014/main" id="{048FE7C6-F5E8-1CD3-C655-0318B770F898}"/>
              </a:ext>
            </a:extLst>
          </p:cNvPr>
          <p:cNvSpPr txBox="1"/>
          <p:nvPr/>
        </p:nvSpPr>
        <p:spPr>
          <a:xfrm>
            <a:off x="543339" y="5810404"/>
            <a:ext cx="1284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user_features</a:t>
            </a:r>
            <a:endParaRPr lang="fr-BE" sz="1400" dirty="0"/>
          </a:p>
        </p:txBody>
      </p:sp>
      <p:pic>
        <p:nvPicPr>
          <p:cNvPr id="1035" name="Picture 4">
            <a:extLst>
              <a:ext uri="{FF2B5EF4-FFF2-40B4-BE49-F238E27FC236}">
                <a16:creationId xmlns:a16="http://schemas.microsoft.com/office/drawing/2014/main" id="{152D098A-48D2-9E1C-69C7-BF097A3FC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40614" y="473512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5BF8EF90-E288-1222-2C07-679B9ACD0BB6}"/>
              </a:ext>
            </a:extLst>
          </p:cNvPr>
          <p:cNvSpPr txBox="1"/>
          <p:nvPr/>
        </p:nvSpPr>
        <p:spPr>
          <a:xfrm>
            <a:off x="2089350" y="5810404"/>
            <a:ext cx="146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edges_mention</a:t>
            </a:r>
            <a:endParaRPr lang="fr-BE" sz="1400" dirty="0"/>
          </a:p>
        </p:txBody>
      </p:sp>
      <p:pic>
        <p:nvPicPr>
          <p:cNvPr id="1033" name="Picture 4">
            <a:extLst>
              <a:ext uri="{FF2B5EF4-FFF2-40B4-BE49-F238E27FC236}">
                <a16:creationId xmlns:a16="http://schemas.microsoft.com/office/drawing/2014/main" id="{AD790D04-8AC1-C226-1845-474AAD130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83631" y="473512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683533E8-99A6-6F1C-FD63-5F6DE0B7559B}"/>
              </a:ext>
            </a:extLst>
          </p:cNvPr>
          <p:cNvSpPr txBox="1"/>
          <p:nvPr/>
        </p:nvSpPr>
        <p:spPr>
          <a:xfrm>
            <a:off x="3891983" y="5810404"/>
            <a:ext cx="1147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edges_reply</a:t>
            </a:r>
            <a:endParaRPr lang="fr-BE" sz="1400" dirty="0"/>
          </a:p>
        </p:txBody>
      </p:sp>
      <p:pic>
        <p:nvPicPr>
          <p:cNvPr id="1031" name="Picture 4">
            <a:extLst>
              <a:ext uri="{FF2B5EF4-FFF2-40B4-BE49-F238E27FC236}">
                <a16:creationId xmlns:a16="http://schemas.microsoft.com/office/drawing/2014/main" id="{76B76358-95E1-42FB-6E00-04B561EFA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88047" y="473512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CDD56B8A-CFE4-A059-5AE6-ABEB6E7AAA9A}"/>
              </a:ext>
            </a:extLst>
          </p:cNvPr>
          <p:cNvSpPr txBox="1"/>
          <p:nvPr/>
        </p:nvSpPr>
        <p:spPr>
          <a:xfrm>
            <a:off x="5513108" y="5810404"/>
            <a:ext cx="1314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edges_retweet</a:t>
            </a:r>
            <a:endParaRPr lang="fr-BE" sz="1400" dirty="0"/>
          </a:p>
        </p:txBody>
      </p:sp>
      <p:pic>
        <p:nvPicPr>
          <p:cNvPr id="1027" name="Picture 4">
            <a:extLst>
              <a:ext uri="{FF2B5EF4-FFF2-40B4-BE49-F238E27FC236}">
                <a16:creationId xmlns:a16="http://schemas.microsoft.com/office/drawing/2014/main" id="{390ED26F-3874-4F65-3C3B-C7B704B3F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36588" y="4733908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570AF5C2-A295-8445-7083-C596E95BBCBB}"/>
              </a:ext>
            </a:extLst>
          </p:cNvPr>
          <p:cNvSpPr txBox="1"/>
          <p:nvPr/>
        </p:nvSpPr>
        <p:spPr>
          <a:xfrm>
            <a:off x="6974968" y="5810404"/>
            <a:ext cx="168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Screen_name_map</a:t>
            </a:r>
            <a:endParaRPr lang="fr-BE" sz="1400" dirty="0"/>
          </a:p>
        </p:txBody>
      </p:sp>
    </p:spTree>
    <p:extLst>
      <p:ext uri="{BB962C8B-B14F-4D97-AF65-F5344CB8AC3E}">
        <p14:creationId xmlns:p14="http://schemas.microsoft.com/office/powerpoint/2010/main" val="3130926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4933-3B67-F2A0-A995-B4ED4D9D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78026CE-60B7-13B2-C30D-15DA149BA8FD}"/>
              </a:ext>
            </a:extLst>
          </p:cNvPr>
          <p:cNvSpPr txBox="1"/>
          <p:nvPr/>
        </p:nvSpPr>
        <p:spPr>
          <a:xfrm>
            <a:off x="164592" y="128016"/>
            <a:ext cx="8045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Merging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batch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  <a:endParaRPr lang="fr-FR" sz="3200" b="1" u="sng" dirty="0">
              <a:solidFill>
                <a:schemeClr val="bg2">
                  <a:lumMod val="60000"/>
                  <a:lumOff val="4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B9BA3D-B19C-FB59-5C76-93EF2326E4CA}"/>
              </a:ext>
            </a:extLst>
          </p:cNvPr>
          <p:cNvSpPr txBox="1"/>
          <p:nvPr/>
        </p:nvSpPr>
        <p:spPr>
          <a:xfrm>
            <a:off x="164593" y="867417"/>
            <a:ext cx="11862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5. For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every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batch, checkpoint files are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created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33EF720F-6136-B7CE-7C7D-9AFDB03A72C1}"/>
              </a:ext>
            </a:extLst>
          </p:cNvPr>
          <p:cNvSpPr/>
          <p:nvPr/>
        </p:nvSpPr>
        <p:spPr>
          <a:xfrm flipH="1">
            <a:off x="10040179" y="1648234"/>
            <a:ext cx="352034" cy="4469948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CF7899-CEB5-7EC2-CA26-B9654A13B208}"/>
              </a:ext>
            </a:extLst>
          </p:cNvPr>
          <p:cNvSpPr txBox="1"/>
          <p:nvPr/>
        </p:nvSpPr>
        <p:spPr>
          <a:xfrm>
            <a:off x="10539995" y="3698542"/>
            <a:ext cx="9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Merged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CC3BB0-3AC0-DBE3-8F3C-7AE438C4C1AC}"/>
              </a:ext>
            </a:extLst>
          </p:cNvPr>
          <p:cNvSpPr txBox="1"/>
          <p:nvPr/>
        </p:nvSpPr>
        <p:spPr>
          <a:xfrm>
            <a:off x="3022809" y="6279138"/>
            <a:ext cx="6146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(The batch size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defined</a:t>
            </a:r>
            <a:r>
              <a:rPr lang="fr-FR" dirty="0"/>
              <a:t> by us, for </a:t>
            </a:r>
            <a:r>
              <a:rPr lang="fr-FR" dirty="0" err="1"/>
              <a:t>example</a:t>
            </a:r>
            <a:r>
              <a:rPr lang="fr-FR" dirty="0"/>
              <a:t> 1000 </a:t>
            </a:r>
            <a:r>
              <a:rPr lang="fr-FR" dirty="0" err="1"/>
              <a:t>users</a:t>
            </a:r>
            <a:r>
              <a:rPr lang="fr-FR" dirty="0"/>
              <a:t>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90FF6A4-E53C-2083-DEE6-C5716A233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3436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2CB797A-56A3-40F5-06E8-98F1C9088A75}"/>
              </a:ext>
            </a:extLst>
          </p:cNvPr>
          <p:cNvSpPr txBox="1"/>
          <p:nvPr/>
        </p:nvSpPr>
        <p:spPr>
          <a:xfrm>
            <a:off x="543339" y="4265174"/>
            <a:ext cx="1284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user_features</a:t>
            </a:r>
            <a:endParaRPr lang="fr-BE" sz="1400" dirty="0"/>
          </a:p>
        </p:txBody>
      </p:sp>
      <p:pic>
        <p:nvPicPr>
          <p:cNvPr id="62" name="Picture 4">
            <a:extLst>
              <a:ext uri="{FF2B5EF4-FFF2-40B4-BE49-F238E27FC236}">
                <a16:creationId xmlns:a16="http://schemas.microsoft.com/office/drawing/2014/main" id="{E3F275C4-E7F9-FA61-48DB-1B9CD239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40614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74E80E1-1041-9148-FE37-28DF8A914BD2}"/>
              </a:ext>
            </a:extLst>
          </p:cNvPr>
          <p:cNvSpPr txBox="1"/>
          <p:nvPr/>
        </p:nvSpPr>
        <p:spPr>
          <a:xfrm>
            <a:off x="2089350" y="4265174"/>
            <a:ext cx="146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edges_mention</a:t>
            </a:r>
            <a:endParaRPr lang="fr-BE" sz="1400" dirty="0"/>
          </a:p>
        </p:txBody>
      </p:sp>
      <p:pic>
        <p:nvPicPr>
          <p:cNvPr id="84" name="Picture 4">
            <a:extLst>
              <a:ext uri="{FF2B5EF4-FFF2-40B4-BE49-F238E27FC236}">
                <a16:creationId xmlns:a16="http://schemas.microsoft.com/office/drawing/2014/main" id="{67E03CBD-CBE3-7C8C-3AE6-15B97CDFC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83631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98216942-AA0E-AC1F-344C-C625B00AA818}"/>
              </a:ext>
            </a:extLst>
          </p:cNvPr>
          <p:cNvSpPr txBox="1"/>
          <p:nvPr/>
        </p:nvSpPr>
        <p:spPr>
          <a:xfrm>
            <a:off x="3891983" y="4265174"/>
            <a:ext cx="1147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edges_reply</a:t>
            </a:r>
            <a:endParaRPr lang="fr-BE" sz="1400" dirty="0"/>
          </a:p>
        </p:txBody>
      </p:sp>
      <p:pic>
        <p:nvPicPr>
          <p:cNvPr id="87" name="Picture 4">
            <a:extLst>
              <a:ext uri="{FF2B5EF4-FFF2-40B4-BE49-F238E27FC236}">
                <a16:creationId xmlns:a16="http://schemas.microsoft.com/office/drawing/2014/main" id="{5D048641-B918-AE1D-A6D0-E5E6C5C8A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88047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EA06F348-A2D9-93EF-4BA7-3DFF30877F90}"/>
              </a:ext>
            </a:extLst>
          </p:cNvPr>
          <p:cNvSpPr txBox="1"/>
          <p:nvPr/>
        </p:nvSpPr>
        <p:spPr>
          <a:xfrm>
            <a:off x="5513108" y="4265174"/>
            <a:ext cx="1314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edges_retweet</a:t>
            </a:r>
            <a:endParaRPr lang="fr-BE" sz="1400" dirty="0"/>
          </a:p>
        </p:txBody>
      </p:sp>
      <p:pic>
        <p:nvPicPr>
          <p:cNvPr id="90" name="Picture 4">
            <a:extLst>
              <a:ext uri="{FF2B5EF4-FFF2-40B4-BE49-F238E27FC236}">
                <a16:creationId xmlns:a16="http://schemas.microsoft.com/office/drawing/2014/main" id="{33E99AEC-B1BF-63E4-1510-211EBC3DB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36588" y="3188678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53FD5F19-96A1-C302-465C-17E11910CBA3}"/>
              </a:ext>
            </a:extLst>
          </p:cNvPr>
          <p:cNvSpPr txBox="1"/>
          <p:nvPr/>
        </p:nvSpPr>
        <p:spPr>
          <a:xfrm>
            <a:off x="6974968" y="4265174"/>
            <a:ext cx="168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Screen_name_map</a:t>
            </a:r>
            <a:endParaRPr lang="fr-BE" sz="1400" dirty="0"/>
          </a:p>
        </p:txBody>
      </p:sp>
      <p:pic>
        <p:nvPicPr>
          <p:cNvPr id="122" name="Picture 4">
            <a:extLst>
              <a:ext uri="{FF2B5EF4-FFF2-40B4-BE49-F238E27FC236}">
                <a16:creationId xmlns:a16="http://schemas.microsoft.com/office/drawing/2014/main" id="{F9D6BBAD-8753-5E7B-14B3-97165894A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3436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6DBF3DA5-C3FA-542F-67BA-2A91647A2113}"/>
              </a:ext>
            </a:extLst>
          </p:cNvPr>
          <p:cNvSpPr txBox="1"/>
          <p:nvPr/>
        </p:nvSpPr>
        <p:spPr>
          <a:xfrm>
            <a:off x="543339" y="4265174"/>
            <a:ext cx="1284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user_features</a:t>
            </a:r>
            <a:endParaRPr lang="fr-BE" sz="1400" dirty="0"/>
          </a:p>
        </p:txBody>
      </p:sp>
      <p:pic>
        <p:nvPicPr>
          <p:cNvPr id="120" name="Picture 4">
            <a:extLst>
              <a:ext uri="{FF2B5EF4-FFF2-40B4-BE49-F238E27FC236}">
                <a16:creationId xmlns:a16="http://schemas.microsoft.com/office/drawing/2014/main" id="{95E75AB3-6A2D-E5A8-04B0-9F6D02D8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40614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18005859-B46C-20F7-80CF-A4B2541C5C85}"/>
              </a:ext>
            </a:extLst>
          </p:cNvPr>
          <p:cNvSpPr txBox="1"/>
          <p:nvPr/>
        </p:nvSpPr>
        <p:spPr>
          <a:xfrm>
            <a:off x="2089350" y="4265174"/>
            <a:ext cx="146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edges_mention</a:t>
            </a:r>
            <a:endParaRPr lang="fr-BE" sz="1400" dirty="0"/>
          </a:p>
        </p:txBody>
      </p:sp>
      <p:pic>
        <p:nvPicPr>
          <p:cNvPr id="118" name="Picture 4">
            <a:extLst>
              <a:ext uri="{FF2B5EF4-FFF2-40B4-BE49-F238E27FC236}">
                <a16:creationId xmlns:a16="http://schemas.microsoft.com/office/drawing/2014/main" id="{F4F19679-0407-42E5-9B04-E1AA07A1D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83631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3810CC8F-D60A-F357-4190-F6A2B230DA18}"/>
              </a:ext>
            </a:extLst>
          </p:cNvPr>
          <p:cNvSpPr txBox="1"/>
          <p:nvPr/>
        </p:nvSpPr>
        <p:spPr>
          <a:xfrm>
            <a:off x="3891983" y="4265174"/>
            <a:ext cx="1147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edges_reply</a:t>
            </a:r>
            <a:endParaRPr lang="fr-BE" sz="1400" dirty="0"/>
          </a:p>
        </p:txBody>
      </p:sp>
      <p:pic>
        <p:nvPicPr>
          <p:cNvPr id="116" name="Picture 4">
            <a:extLst>
              <a:ext uri="{FF2B5EF4-FFF2-40B4-BE49-F238E27FC236}">
                <a16:creationId xmlns:a16="http://schemas.microsoft.com/office/drawing/2014/main" id="{21C9C319-32F5-4401-61EC-31D129606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88047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97BF7CEB-3F59-EC53-97A8-CF3CB28588DA}"/>
              </a:ext>
            </a:extLst>
          </p:cNvPr>
          <p:cNvSpPr txBox="1"/>
          <p:nvPr/>
        </p:nvSpPr>
        <p:spPr>
          <a:xfrm>
            <a:off x="5513108" y="4265174"/>
            <a:ext cx="1314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edges_retweet</a:t>
            </a:r>
            <a:endParaRPr lang="fr-BE" sz="1400" dirty="0"/>
          </a:p>
        </p:txBody>
      </p:sp>
      <p:pic>
        <p:nvPicPr>
          <p:cNvPr id="114" name="Picture 4">
            <a:extLst>
              <a:ext uri="{FF2B5EF4-FFF2-40B4-BE49-F238E27FC236}">
                <a16:creationId xmlns:a16="http://schemas.microsoft.com/office/drawing/2014/main" id="{16C82AE3-98A0-DA99-D7B5-5A61B242F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36588" y="3188678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C9CC179C-4B7C-F789-678D-306E56592160}"/>
              </a:ext>
            </a:extLst>
          </p:cNvPr>
          <p:cNvSpPr txBox="1"/>
          <p:nvPr/>
        </p:nvSpPr>
        <p:spPr>
          <a:xfrm>
            <a:off x="6974968" y="4265174"/>
            <a:ext cx="168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Screen_name_map</a:t>
            </a:r>
            <a:endParaRPr lang="fr-BE" sz="1400" dirty="0"/>
          </a:p>
        </p:txBody>
      </p:sp>
      <p:pic>
        <p:nvPicPr>
          <p:cNvPr id="1037" name="Picture 4">
            <a:extLst>
              <a:ext uri="{FF2B5EF4-FFF2-40B4-BE49-F238E27FC236}">
                <a16:creationId xmlns:a16="http://schemas.microsoft.com/office/drawing/2014/main" id="{375BB1C6-8A88-7090-FC35-5A6E1A51F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3436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8" name="TextBox 1037">
            <a:extLst>
              <a:ext uri="{FF2B5EF4-FFF2-40B4-BE49-F238E27FC236}">
                <a16:creationId xmlns:a16="http://schemas.microsoft.com/office/drawing/2014/main" id="{D5CE1D68-41D5-D462-66CA-009418BD1285}"/>
              </a:ext>
            </a:extLst>
          </p:cNvPr>
          <p:cNvSpPr txBox="1"/>
          <p:nvPr/>
        </p:nvSpPr>
        <p:spPr>
          <a:xfrm>
            <a:off x="543339" y="4265174"/>
            <a:ext cx="1284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user_features</a:t>
            </a:r>
            <a:endParaRPr lang="fr-BE" sz="1400" dirty="0"/>
          </a:p>
        </p:txBody>
      </p:sp>
      <p:pic>
        <p:nvPicPr>
          <p:cNvPr id="1035" name="Picture 4">
            <a:extLst>
              <a:ext uri="{FF2B5EF4-FFF2-40B4-BE49-F238E27FC236}">
                <a16:creationId xmlns:a16="http://schemas.microsoft.com/office/drawing/2014/main" id="{443398E6-177A-C8E9-A829-F1A19CBC7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40614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32CC702A-6030-7966-3C9D-9F0126D546C9}"/>
              </a:ext>
            </a:extLst>
          </p:cNvPr>
          <p:cNvSpPr txBox="1"/>
          <p:nvPr/>
        </p:nvSpPr>
        <p:spPr>
          <a:xfrm>
            <a:off x="2089350" y="4265174"/>
            <a:ext cx="146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edges_mention</a:t>
            </a:r>
            <a:endParaRPr lang="fr-BE" sz="1400" dirty="0"/>
          </a:p>
        </p:txBody>
      </p:sp>
      <p:pic>
        <p:nvPicPr>
          <p:cNvPr id="1033" name="Picture 4">
            <a:extLst>
              <a:ext uri="{FF2B5EF4-FFF2-40B4-BE49-F238E27FC236}">
                <a16:creationId xmlns:a16="http://schemas.microsoft.com/office/drawing/2014/main" id="{1B19EDAB-C97B-0B5B-2B56-609DC71E8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83631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587BF23D-B924-EE00-8A3D-566264932D5B}"/>
              </a:ext>
            </a:extLst>
          </p:cNvPr>
          <p:cNvSpPr txBox="1"/>
          <p:nvPr/>
        </p:nvSpPr>
        <p:spPr>
          <a:xfrm>
            <a:off x="3891983" y="4265174"/>
            <a:ext cx="1147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edges_reply</a:t>
            </a:r>
            <a:endParaRPr lang="fr-BE" sz="1400" dirty="0"/>
          </a:p>
        </p:txBody>
      </p:sp>
      <p:pic>
        <p:nvPicPr>
          <p:cNvPr id="1031" name="Picture 4">
            <a:extLst>
              <a:ext uri="{FF2B5EF4-FFF2-40B4-BE49-F238E27FC236}">
                <a16:creationId xmlns:a16="http://schemas.microsoft.com/office/drawing/2014/main" id="{AB748FC8-C5FE-B7DB-81B2-4D05F9F65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88047" y="3189895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04A5B691-5B42-6558-F914-B591669A0753}"/>
              </a:ext>
            </a:extLst>
          </p:cNvPr>
          <p:cNvSpPr txBox="1"/>
          <p:nvPr/>
        </p:nvSpPr>
        <p:spPr>
          <a:xfrm>
            <a:off x="5513108" y="4265174"/>
            <a:ext cx="1314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edges_retweet</a:t>
            </a:r>
            <a:endParaRPr lang="fr-BE" sz="1400" dirty="0"/>
          </a:p>
        </p:txBody>
      </p:sp>
      <p:pic>
        <p:nvPicPr>
          <p:cNvPr id="1027" name="Picture 4">
            <a:extLst>
              <a:ext uri="{FF2B5EF4-FFF2-40B4-BE49-F238E27FC236}">
                <a16:creationId xmlns:a16="http://schemas.microsoft.com/office/drawing/2014/main" id="{DD98E3F4-FCA4-3A36-F548-441760D81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36588" y="3188678"/>
            <a:ext cx="1164198" cy="116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B6F91BC6-8195-514D-ABF6-FB6C7174CC32}"/>
              </a:ext>
            </a:extLst>
          </p:cNvPr>
          <p:cNvSpPr txBox="1"/>
          <p:nvPr/>
        </p:nvSpPr>
        <p:spPr>
          <a:xfrm>
            <a:off x="6974968" y="4265174"/>
            <a:ext cx="168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Screen_name_map</a:t>
            </a:r>
            <a:endParaRPr lang="fr-BE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00E6C3-987E-09E5-074F-12E225275E3B}"/>
              </a:ext>
            </a:extLst>
          </p:cNvPr>
          <p:cNvSpPr txBox="1"/>
          <p:nvPr/>
        </p:nvSpPr>
        <p:spPr>
          <a:xfrm>
            <a:off x="653277" y="5340453"/>
            <a:ext cx="1064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/>
              <a:t>User </a:t>
            </a:r>
            <a:r>
              <a:rPr lang="fr-FR" sz="1400" dirty="0" err="1"/>
              <a:t>nodes</a:t>
            </a:r>
            <a:endParaRPr lang="fr-BE" sz="1400" dirty="0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A0306E6A-87E3-7B64-20D2-83D7561A9701}"/>
              </a:ext>
            </a:extLst>
          </p:cNvPr>
          <p:cNvSpPr/>
          <p:nvPr/>
        </p:nvSpPr>
        <p:spPr>
          <a:xfrm rot="5400000" flipH="1">
            <a:off x="1009517" y="4286733"/>
            <a:ext cx="352034" cy="1164198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8723C8-AEB9-1078-774D-6FA5B378CEA9}"/>
              </a:ext>
            </a:extLst>
          </p:cNvPr>
          <p:cNvSpPr txBox="1"/>
          <p:nvPr/>
        </p:nvSpPr>
        <p:spPr>
          <a:xfrm>
            <a:off x="4124703" y="5340453"/>
            <a:ext cx="651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Edges</a:t>
            </a:r>
            <a:endParaRPr lang="fr-BE" sz="1400" dirty="0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E2C2277E-1986-2A1D-DC94-7385BB54D521}"/>
              </a:ext>
            </a:extLst>
          </p:cNvPr>
          <p:cNvSpPr/>
          <p:nvPr/>
        </p:nvSpPr>
        <p:spPr>
          <a:xfrm rot="5400000" flipH="1">
            <a:off x="4274384" y="2661258"/>
            <a:ext cx="352034" cy="4415147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56A84DC7-9688-C0D0-3D38-53D54D915701}"/>
              </a:ext>
            </a:extLst>
          </p:cNvPr>
          <p:cNvSpPr/>
          <p:nvPr/>
        </p:nvSpPr>
        <p:spPr>
          <a:xfrm rot="5400000" flipH="1">
            <a:off x="7642670" y="4286734"/>
            <a:ext cx="352034" cy="1164197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F11664-656B-27D5-EAEC-12584BAB469C}"/>
              </a:ext>
            </a:extLst>
          </p:cNvPr>
          <p:cNvSpPr txBox="1"/>
          <p:nvPr/>
        </p:nvSpPr>
        <p:spPr>
          <a:xfrm>
            <a:off x="6787711" y="5340453"/>
            <a:ext cx="20619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/>
              <a:t>Useful</a:t>
            </a:r>
            <a:r>
              <a:rPr lang="fr-FR" sz="1400" dirty="0"/>
              <a:t> </a:t>
            </a:r>
            <a:r>
              <a:rPr lang="fr-FR" sz="1400" dirty="0" err="1"/>
              <a:t>dictionary</a:t>
            </a:r>
            <a:r>
              <a:rPr lang="fr-FR" sz="1400" dirty="0"/>
              <a:t> </a:t>
            </a:r>
            <a:r>
              <a:rPr lang="fr-FR" sz="1400" dirty="0" err="1"/>
              <a:t>used</a:t>
            </a:r>
            <a:r>
              <a:rPr lang="fr-FR" sz="1400" dirty="0"/>
              <a:t> </a:t>
            </a:r>
          </a:p>
          <a:p>
            <a:pPr algn="ctr"/>
            <a:r>
              <a:rPr lang="fr-FR" sz="1400" dirty="0"/>
              <a:t>to </a:t>
            </a:r>
            <a:r>
              <a:rPr lang="fr-FR" sz="1400" dirty="0" err="1"/>
              <a:t>build</a:t>
            </a:r>
            <a:r>
              <a:rPr lang="fr-FR" sz="1400" dirty="0"/>
              <a:t> a mention graph</a:t>
            </a:r>
          </a:p>
          <a:p>
            <a:pPr algn="ctr"/>
            <a:r>
              <a:rPr lang="fr-FR" sz="1400" dirty="0"/>
              <a:t>by </a:t>
            </a:r>
            <a:r>
              <a:rPr lang="fr-FR" sz="1400" dirty="0" err="1"/>
              <a:t>finding</a:t>
            </a:r>
            <a:r>
              <a:rPr lang="fr-FR" sz="1400" dirty="0"/>
              <a:t> user id via </a:t>
            </a:r>
            <a:r>
              <a:rPr lang="fr-FR" sz="1400" dirty="0" err="1"/>
              <a:t>it</a:t>
            </a:r>
            <a:endParaRPr lang="fr-BE" sz="1400" dirty="0"/>
          </a:p>
        </p:txBody>
      </p:sp>
    </p:spTree>
    <p:extLst>
      <p:ext uri="{BB962C8B-B14F-4D97-AF65-F5344CB8AC3E}">
        <p14:creationId xmlns:p14="http://schemas.microsoft.com/office/powerpoint/2010/main" val="4294607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842E-B44D-C25B-93A0-A569F3F3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DC79CE-7463-B644-D4F7-82313CD3349D}"/>
              </a:ext>
            </a:extLst>
          </p:cNvPr>
          <p:cNvSpPr txBox="1"/>
          <p:nvPr/>
        </p:nvSpPr>
        <p:spPr>
          <a:xfrm>
            <a:off x="164592" y="128016"/>
            <a:ext cx="80453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Merging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batch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33FE09-14AC-2DAF-B41A-0AC3033863FB}"/>
              </a:ext>
            </a:extLst>
          </p:cNvPr>
          <p:cNvSpPr txBox="1"/>
          <p:nvPr/>
        </p:nvSpPr>
        <p:spPr>
          <a:xfrm>
            <a:off x="164593" y="867417"/>
            <a:ext cx="11862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Concretly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we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generate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a csv file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containing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all the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features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fr-B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ABBD1C-D7EB-750B-7439-B7B0A506C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38" y="2259754"/>
            <a:ext cx="3738608" cy="2338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293C39-5E3B-C545-362A-E3BB24627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765" y="1626645"/>
            <a:ext cx="6412512" cy="3605317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F93B85F-C9FE-5258-423F-7A8C38CB516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187246" y="3429304"/>
            <a:ext cx="984519" cy="1004635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6A650D1-E637-BE12-EBCE-7D4153DDA5FA}"/>
              </a:ext>
            </a:extLst>
          </p:cNvPr>
          <p:cNvSpPr txBox="1"/>
          <p:nvPr/>
        </p:nvSpPr>
        <p:spPr>
          <a:xfrm>
            <a:off x="5822242" y="5376374"/>
            <a:ext cx="519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Each</a:t>
            </a:r>
            <a:r>
              <a:rPr lang="fr-FR" dirty="0"/>
              <a:t> line in </a:t>
            </a:r>
            <a:r>
              <a:rPr lang="fr-FR" dirty="0" err="1"/>
              <a:t>this</a:t>
            </a:r>
            <a:r>
              <a:rPr lang="fr-FR" dirty="0"/>
              <a:t> file </a:t>
            </a:r>
            <a:r>
              <a:rPr lang="fr-FR" dirty="0" err="1"/>
              <a:t>is</a:t>
            </a:r>
            <a:r>
              <a:rPr lang="fr-FR" dirty="0"/>
              <a:t> a user </a:t>
            </a:r>
            <a:r>
              <a:rPr lang="fr-FR" dirty="0" err="1"/>
              <a:t>node</a:t>
            </a:r>
            <a:r>
              <a:rPr lang="fr-FR" dirty="0"/>
              <a:t> with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features</a:t>
            </a:r>
            <a:r>
              <a:rPr lang="fr-FR" dirty="0"/>
              <a:t>.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71529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3D57-BEAD-7466-8512-2A04629A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8D1E2A-27C9-BE41-5795-9B2193065C66}"/>
              </a:ext>
            </a:extLst>
          </p:cNvPr>
          <p:cNvSpPr txBox="1"/>
          <p:nvPr/>
        </p:nvSpPr>
        <p:spPr>
          <a:xfrm>
            <a:off x="164591" y="128016"/>
            <a:ext cx="1184643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5.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Merging</a:t>
            </a:r>
            <a:r>
              <a:rPr lang="fr-FR" sz="3200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batch </a:t>
            </a:r>
            <a:r>
              <a:rPr lang="fr-FR" sz="32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Note: the user id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saved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in the csv file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actually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an ID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that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was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hashed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converted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to base 62 in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order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to have a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homogeneous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data and to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some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disc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space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solidFill>
                <a:schemeClr val="accent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Stored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tweet id in csv = base62( </a:t>
            </a:r>
            <a:r>
              <a:rPr lang="fr-BE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823372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2A35E-4961-B9CF-3CB4-1EBBC18D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69E511-CEF1-853A-CB30-EC8410DFD23E}"/>
              </a:ext>
            </a:extLst>
          </p:cNvPr>
          <p:cNvSpPr txBox="1"/>
          <p:nvPr/>
        </p:nvSpPr>
        <p:spPr>
          <a:xfrm>
            <a:off x="164591" y="128016"/>
            <a:ext cx="8703185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Concretly</a:t>
            </a:r>
            <a:r>
              <a:rPr lang="fr-FR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the code</a:t>
            </a:r>
            <a:endParaRPr lang="fr-FR" sz="2000" u="sng" dirty="0">
              <a:solidFill>
                <a:schemeClr val="tx2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logic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handled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by the class </a:t>
            </a:r>
            <a: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BE" b="1" dirty="0" err="1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GraphGenerationUser</a:t>
            </a:r>
            <a: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First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initialize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connection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to Mongo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database</a:t>
            </a:r>
            <a:b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fr-BE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Then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create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a first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cursor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to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extract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all the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users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ordered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by </a:t>
            </a:r>
            <a: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`user.id`</a:t>
            </a:r>
            <a:b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</a:br>
            <a:b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</a:br>
            <a:endParaRPr lang="fr-BE" sz="1000" b="1" dirty="0">
              <a:solidFill>
                <a:srgbClr val="C00000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fr-BE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Then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this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cursor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grouped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by the user id and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delegated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to the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method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BE" b="1" dirty="0" err="1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process_user_tweets</a:t>
            </a:r>
            <a: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()`</a:t>
            </a:r>
            <a:r>
              <a:rPr lang="fr-BE" dirty="0"/>
              <a:t> 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to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extract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the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br>
              <a:rPr lang="fr-BE" sz="1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fr-BE" sz="1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fr-BE" sz="1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fr-BE" sz="1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fr-BE" sz="1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fr-BE" sz="1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fr-BE" sz="1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fr-BE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BE" sz="10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endParaRPr lang="fr-BE" sz="10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 startAt="4"/>
            </a:pPr>
            <a:endParaRPr lang="fr-BE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When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a user batch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processed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, a checkpoint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created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BE" b="1" dirty="0" err="1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save_checkpoint</a:t>
            </a:r>
            <a: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()`</a:t>
            </a:r>
          </a:p>
          <a:p>
            <a:endParaRPr lang="fr-BE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When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iterated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over all tweets, the </a:t>
            </a:r>
            <a: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`</a:t>
            </a:r>
            <a:r>
              <a:rPr lang="fr-BE" b="1" dirty="0" err="1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merge_checkpoints</a:t>
            </a:r>
            <a:r>
              <a:rPr lang="fr-BE" b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()`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called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to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get</a:t>
            </a:r>
            <a:r>
              <a:rPr lang="fr-BE" dirty="0">
                <a:latin typeface="Segoe UI" panose="020B0502040204020203" pitchFamily="34" charset="0"/>
                <a:cs typeface="Segoe UI" panose="020B0502040204020203" pitchFamily="34" charset="0"/>
              </a:rPr>
              <a:t> the final </a:t>
            </a:r>
            <a:r>
              <a:rPr lang="fr-BE" dirty="0" err="1">
                <a:latin typeface="Segoe UI" panose="020B0502040204020203" pitchFamily="34" charset="0"/>
                <a:cs typeface="Segoe UI" panose="020B0502040204020203" pitchFamily="34" charset="0"/>
              </a:rPr>
              <a:t>result</a:t>
            </a:r>
            <a:endParaRPr lang="fr-B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6210396-6EB8-D622-F874-7235ACF21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776" y="704814"/>
            <a:ext cx="2867025" cy="233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5599EA-60DD-3D17-4205-E4D962DF8B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33"/>
          <a:stretch>
            <a:fillRect/>
          </a:stretch>
        </p:blipFill>
        <p:spPr>
          <a:xfrm>
            <a:off x="578811" y="2219258"/>
            <a:ext cx="4459533" cy="319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252E3D-BB78-EC66-F6D8-3795E0176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1" y="3429000"/>
            <a:ext cx="5611677" cy="142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7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bleau Analyse Coran">
      <a:dk1>
        <a:srgbClr val="000000"/>
      </a:dk1>
      <a:lt1>
        <a:srgbClr val="FFFFFF"/>
      </a:lt1>
      <a:dk2>
        <a:srgbClr val="FF85FC"/>
      </a:dk2>
      <a:lt2>
        <a:srgbClr val="00B0F0"/>
      </a:lt2>
      <a:accent1>
        <a:srgbClr val="00FE1E"/>
      </a:accent1>
      <a:accent2>
        <a:srgbClr val="B0FF69"/>
      </a:accent2>
      <a:accent3>
        <a:srgbClr val="FFFB43"/>
      </a:accent3>
      <a:accent4>
        <a:srgbClr val="FF9C19"/>
      </a:accent4>
      <a:accent5>
        <a:srgbClr val="FF2F2F"/>
      </a:accent5>
      <a:accent6>
        <a:srgbClr val="C40000"/>
      </a:accent6>
      <a:hlink>
        <a:srgbClr val="A5A5A5"/>
      </a:hlink>
      <a:folHlink>
        <a:srgbClr val="BFBFB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1451</Words>
  <Application>Microsoft Office PowerPoint</Application>
  <PresentationFormat>Widescreen</PresentationFormat>
  <Paragraphs>319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 Kot</dc:creator>
  <cp:lastModifiedBy>Kotiyev Nasser</cp:lastModifiedBy>
  <cp:revision>328</cp:revision>
  <dcterms:created xsi:type="dcterms:W3CDTF">2026-04-29T14:35:08Z</dcterms:created>
  <dcterms:modified xsi:type="dcterms:W3CDTF">2026-05-04T09:43:04Z</dcterms:modified>
</cp:coreProperties>
</file>